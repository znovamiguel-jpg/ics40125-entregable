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914400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E28E2F"/>
                </a:solidFill>
                <a:latin typeface="Calibri"/>
              </a:rPr>
              <a:t>PROYECTO 01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645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Determinantes Salariales</a:t>
            </a:r>
          </a:p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en TalentCo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2000" b="0" i="1" dirty="0">
                <a:solidFill>
                  <a:srgbClr val="CADCFC"/>
                </a:solidFill>
                <a:latin typeface="Calibri"/>
              </a:rPr>
              <a:t>¿</a:t>
            </a:r>
            <a:r>
              <a:rPr sz="2000" b="0" i="1" dirty="0">
                <a:solidFill>
                  <a:srgbClr val="CADCFC"/>
                </a:solidFill>
                <a:latin typeface="Calibri"/>
              </a:rPr>
              <a:t>Qu</a:t>
            </a:r>
            <a:r>
              <a:rPr lang="es-419" sz="2000" b="0" i="1" dirty="0">
                <a:solidFill>
                  <a:srgbClr val="CADCFC"/>
                </a:solidFill>
                <a:latin typeface="Calibri"/>
              </a:rPr>
              <a:t>é</a:t>
            </a:r>
            <a:r>
              <a:rPr sz="2000" b="0" i="1" dirty="0">
                <a:solidFill>
                  <a:srgbClr val="CADCFC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CADCFC"/>
                </a:solidFill>
                <a:latin typeface="Calibri"/>
              </a:rPr>
              <a:t>explica</a:t>
            </a:r>
            <a:r>
              <a:rPr sz="2000" b="0" i="1" dirty="0">
                <a:solidFill>
                  <a:srgbClr val="CADCFC"/>
                </a:solidFill>
                <a:latin typeface="Calibri"/>
              </a:rPr>
              <a:t> el </a:t>
            </a:r>
            <a:r>
              <a:rPr sz="2000" b="0" i="1" dirty="0" err="1">
                <a:solidFill>
                  <a:srgbClr val="CADCFC"/>
                </a:solidFill>
                <a:latin typeface="Calibri"/>
              </a:rPr>
              <a:t>salario</a:t>
            </a:r>
            <a:r>
              <a:rPr sz="2000" b="0" i="1" dirty="0">
                <a:solidFill>
                  <a:srgbClr val="CADCFC"/>
                </a:solidFill>
                <a:latin typeface="Calibri"/>
              </a:rPr>
              <a:t> de los </a:t>
            </a:r>
            <a:r>
              <a:rPr sz="2000" b="0" i="1" dirty="0" err="1">
                <a:solidFill>
                  <a:srgbClr val="CADCFC"/>
                </a:solidFill>
                <a:latin typeface="Calibri"/>
              </a:rPr>
              <a:t>empleados</a:t>
            </a:r>
            <a:r>
              <a:rPr sz="2000" b="0" i="1" dirty="0">
                <a:solidFill>
                  <a:srgbClr val="CADCFC"/>
                </a:solidFill>
                <a:latin typeface="Calibri"/>
              </a:rPr>
              <a:t> y </a:t>
            </a:r>
            <a:r>
              <a:rPr sz="2000" b="0" i="1" dirty="0" err="1">
                <a:solidFill>
                  <a:srgbClr val="CADCFC"/>
                </a:solidFill>
                <a:latin typeface="Calibri"/>
              </a:rPr>
              <a:t>como</a:t>
            </a:r>
            <a:r>
              <a:rPr sz="2000" b="0" i="1" dirty="0">
                <a:solidFill>
                  <a:srgbClr val="CADCFC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CADCFC"/>
                </a:solidFill>
                <a:latin typeface="Calibri"/>
              </a:rPr>
              <a:t>mejorar</a:t>
            </a:r>
            <a:r>
              <a:rPr sz="2000" b="0" i="1" dirty="0">
                <a:solidFill>
                  <a:srgbClr val="CADCFC"/>
                </a:solidFill>
                <a:latin typeface="Calibri"/>
              </a:rPr>
              <a:t> la </a:t>
            </a:r>
            <a:r>
              <a:rPr sz="2000" b="0" i="1" dirty="0" err="1">
                <a:solidFill>
                  <a:srgbClr val="CADCFC"/>
                </a:solidFill>
                <a:latin typeface="Calibri"/>
              </a:rPr>
              <a:t>equidad</a:t>
            </a:r>
            <a:r>
              <a:rPr lang="es-419" sz="2000" b="0" i="1" dirty="0">
                <a:solidFill>
                  <a:srgbClr val="CADCFC"/>
                </a:solidFill>
                <a:latin typeface="Calibri"/>
              </a:rPr>
              <a:t>?</a:t>
            </a:r>
            <a:endParaRPr sz="2000" b="0" i="1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4114800" cy="36576"/>
          </a:xfrm>
          <a:prstGeom prst="rect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05840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 dirty="0" err="1">
                <a:solidFill>
                  <a:srgbClr val="FFFFFF"/>
                </a:solidFill>
                <a:latin typeface="Calibri"/>
              </a:rPr>
              <a:t>Curso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: ICS40125 ·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Asignatura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de </a:t>
            </a:r>
            <a:r>
              <a:rPr lang="es-419" sz="1400" b="0" i="0" dirty="0">
                <a:solidFill>
                  <a:srgbClr val="FFFFFF"/>
                </a:solidFill>
                <a:latin typeface="Calibri"/>
              </a:rPr>
              <a:t>Analítica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de Datos</a:t>
            </a:r>
            <a:r>
              <a:rPr lang="es-CL" sz="1400" b="0" i="0" dirty="0">
                <a:solidFill>
                  <a:srgbClr val="FFFFFF"/>
                </a:solidFill>
                <a:latin typeface="Calibri"/>
              </a:rPr>
              <a:t> para los negocios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05840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Equipo: </a:t>
            </a:r>
            <a:r>
              <a:rPr lang="es-CL" sz="1400" dirty="0">
                <a:solidFill>
                  <a:srgbClr val="FFFFFF"/>
                </a:solidFill>
                <a:latin typeface="Calibri"/>
              </a:rPr>
              <a:t>Miguel Ángel Nova, Martina Morales e Ivania Becerra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 dirty="0" err="1">
                <a:solidFill>
                  <a:srgbClr val="21295C"/>
                </a:solidFill>
                <a:latin typeface="Calibri"/>
              </a:rPr>
              <a:t>Recorrido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 de la </a:t>
            </a:r>
            <a:r>
              <a:rPr lang="es-419" sz="2800" b="1" i="0" dirty="0">
                <a:solidFill>
                  <a:srgbClr val="21295C"/>
                </a:solidFill>
                <a:latin typeface="Calibri"/>
              </a:rPr>
              <a:t>presentación</a:t>
            </a:r>
            <a:endParaRPr sz="28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38404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Contexto y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55448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555B6E"/>
                </a:solidFill>
                <a:latin typeface="Calibri"/>
              </a:rPr>
              <a:t>Que pide TalentCo y por que importa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21408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39696"/>
            <a:ext cx="38404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21408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Datos y limpieza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21408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555B6E"/>
                </a:solidFill>
                <a:latin typeface="Calibri"/>
              </a:rPr>
              <a:t>10.100 filas brutas → 9.803 utilizables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688336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706624"/>
            <a:ext cx="38404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88336"/>
            <a:ext cx="411480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1600" b="1" i="0" dirty="0">
                <a:solidFill>
                  <a:srgbClr val="21295C"/>
                </a:solidFill>
                <a:latin typeface="Calibri"/>
              </a:rPr>
              <a:t>Análisis </a:t>
            </a:r>
            <a:r>
              <a:rPr sz="1600" b="1" i="0" dirty="0" err="1">
                <a:solidFill>
                  <a:srgbClr val="21295C"/>
                </a:solidFill>
                <a:latin typeface="Calibri"/>
              </a:rPr>
              <a:t>exploratorio</a:t>
            </a:r>
            <a:endParaRPr sz="16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94960" y="2688336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555B6E"/>
                </a:solidFill>
                <a:latin typeface="Calibri"/>
              </a:rPr>
              <a:t>Distribuciones, comparaciones, correlaciones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255263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273551"/>
            <a:ext cx="38404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55263"/>
            <a:ext cx="411480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 dirty="0" err="1">
                <a:solidFill>
                  <a:srgbClr val="21295C"/>
                </a:solidFill>
                <a:latin typeface="Calibri"/>
              </a:rPr>
              <a:t>Pruebas</a:t>
            </a:r>
            <a:r>
              <a:rPr sz="1600" b="1" i="0" dirty="0">
                <a:solidFill>
                  <a:srgbClr val="21295C"/>
                </a:solidFill>
                <a:latin typeface="Calibri"/>
              </a:rPr>
              <a:t> de hip</a:t>
            </a:r>
            <a:r>
              <a:rPr lang="es-419" sz="1600" b="1" i="0" dirty="0">
                <a:solidFill>
                  <a:srgbClr val="21295C"/>
                </a:solidFill>
                <a:latin typeface="Calibri"/>
              </a:rPr>
              <a:t>ó</a:t>
            </a:r>
            <a:r>
              <a:rPr sz="1600" b="1" i="0" dirty="0" err="1">
                <a:solidFill>
                  <a:srgbClr val="21295C"/>
                </a:solidFill>
                <a:latin typeface="Calibri"/>
              </a:rPr>
              <a:t>tesis</a:t>
            </a:r>
            <a:r>
              <a:rPr lang="es-419" sz="1600" b="1" i="0" dirty="0">
                <a:solidFill>
                  <a:srgbClr val="21295C"/>
                </a:solidFill>
                <a:latin typeface="Calibri"/>
              </a:rPr>
              <a:t> </a:t>
            </a:r>
            <a:endParaRPr sz="16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94960" y="3255263"/>
            <a:ext cx="640080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 dirty="0" err="1">
                <a:solidFill>
                  <a:srgbClr val="555B6E"/>
                </a:solidFill>
                <a:latin typeface="Calibri"/>
              </a:rPr>
              <a:t>Validar</a:t>
            </a:r>
            <a:r>
              <a:rPr sz="1300" b="0" i="0" dirty="0">
                <a:solidFill>
                  <a:srgbClr val="555B6E"/>
                </a:solidFill>
                <a:latin typeface="Calibri"/>
              </a:rPr>
              <a:t> la </a:t>
            </a:r>
            <a:r>
              <a:rPr lang="es-419" sz="1300" b="0" i="0" dirty="0">
                <a:solidFill>
                  <a:srgbClr val="555B6E"/>
                </a:solidFill>
                <a:latin typeface="Calibri"/>
              </a:rPr>
              <a:t>intuición </a:t>
            </a:r>
            <a:r>
              <a:rPr sz="1300" b="0" i="0" dirty="0">
                <a:solidFill>
                  <a:srgbClr val="555B6E"/>
                </a:solidFill>
                <a:latin typeface="Calibri"/>
              </a:rPr>
              <a:t>con </a:t>
            </a:r>
            <a:r>
              <a:rPr lang="es-419" sz="1300" b="0" i="0" dirty="0">
                <a:solidFill>
                  <a:srgbClr val="555B6E"/>
                </a:solidFill>
                <a:latin typeface="Calibri"/>
              </a:rPr>
              <a:t>estadística</a:t>
            </a:r>
            <a:endParaRPr sz="1300" b="0" i="0" dirty="0">
              <a:solidFill>
                <a:srgbClr val="555B6E"/>
              </a:solidFill>
              <a:latin typeface="Calibri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40080" y="3822191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840479"/>
            <a:ext cx="38404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822191"/>
            <a:ext cx="411480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 dirty="0" err="1">
                <a:solidFill>
                  <a:srgbClr val="21295C"/>
                </a:solidFill>
                <a:latin typeface="Calibri"/>
              </a:rPr>
              <a:t>Modelo</a:t>
            </a:r>
            <a:r>
              <a:rPr sz="1600" b="1" i="0" dirty="0">
                <a:solidFill>
                  <a:srgbClr val="21295C"/>
                </a:solidFill>
                <a:latin typeface="Calibri"/>
              </a:rPr>
              <a:t> de </a:t>
            </a:r>
            <a:r>
              <a:rPr sz="1600" b="1" i="0" dirty="0" err="1">
                <a:solidFill>
                  <a:srgbClr val="21295C"/>
                </a:solidFill>
                <a:latin typeface="Calibri"/>
              </a:rPr>
              <a:t>regresi</a:t>
            </a:r>
            <a:r>
              <a:rPr lang="es-419" sz="1600" b="1" i="0" dirty="0">
                <a:solidFill>
                  <a:srgbClr val="21295C"/>
                </a:solidFill>
                <a:latin typeface="Calibri"/>
              </a:rPr>
              <a:t>ó</a:t>
            </a:r>
            <a:r>
              <a:rPr sz="1600" b="1" i="0" dirty="0">
                <a:solidFill>
                  <a:srgbClr val="21295C"/>
                </a:solidFill>
                <a:latin typeface="Calibri"/>
              </a:rPr>
              <a:t>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822191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555B6E"/>
                </a:solidFill>
                <a:latin typeface="Calibri"/>
              </a:rPr>
              <a:t>Cuantificar cada efecto en US$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389120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407407"/>
            <a:ext cx="38404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38912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Diagnostico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38912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555B6E"/>
                </a:solidFill>
                <a:latin typeface="Calibri"/>
              </a:rPr>
              <a:t>Verificar que el modelo es confiable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956048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974336"/>
            <a:ext cx="38404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956048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Recomendaciones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4956048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555B6E"/>
                </a:solidFill>
                <a:latin typeface="Calibri"/>
              </a:rPr>
              <a:t>Que deberia hacer TalentCo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Proyecto 01 — Analitica de RRHH  ·  Agenda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55B6E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01 ·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libri"/>
              </a:rPr>
              <a:t>El problema de TalentCo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85216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 dirty="0" err="1">
                <a:solidFill>
                  <a:srgbClr val="065A82"/>
                </a:solidFill>
                <a:latin typeface="Calibri"/>
              </a:rPr>
              <a:t>Situaci</a:t>
            </a:r>
            <a:r>
              <a:rPr lang="es-419" sz="1800" b="1" i="0" dirty="0">
                <a:solidFill>
                  <a:srgbClr val="065A82"/>
                </a:solidFill>
                <a:latin typeface="Calibri"/>
              </a:rPr>
              <a:t>ó</a:t>
            </a:r>
            <a:r>
              <a:rPr sz="1800" b="1" i="0" dirty="0">
                <a:solidFill>
                  <a:srgbClr val="065A82"/>
                </a:solidFill>
                <a:latin typeface="Calibri"/>
              </a:rPr>
              <a:t>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852160" cy="154503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21295C"/>
                </a:solidFill>
                <a:latin typeface="Calibri"/>
              </a:rPr>
              <a:t>TalentCo es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una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multinacional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con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operaciones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en m</a:t>
            </a:r>
            <a:r>
              <a:rPr lang="es-419" sz="1400" b="0" i="0" dirty="0">
                <a:solidFill>
                  <a:srgbClr val="21295C"/>
                </a:solidFill>
                <a:latin typeface="Calibri"/>
              </a:rPr>
              <a:t>ú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ltiples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regiones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y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departamentos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.</a:t>
            </a:r>
          </a:p>
          <a:p>
            <a:pPr algn="l"/>
            <a:endParaRPr sz="1400" b="0" i="0" dirty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400" b="0" i="0" dirty="0">
                <a:solidFill>
                  <a:srgbClr val="21295C"/>
                </a:solidFill>
                <a:latin typeface="Calibri"/>
              </a:rPr>
              <a:t>El </a:t>
            </a:r>
            <a:r>
              <a:rPr lang="es-419" sz="1400" b="0" i="0" dirty="0">
                <a:solidFill>
                  <a:srgbClr val="21295C"/>
                </a:solidFill>
                <a:latin typeface="Calibri"/>
              </a:rPr>
              <a:t>á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rea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de RRHH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recibe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reclamos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cruzados:</a:t>
            </a:r>
          </a:p>
          <a:p>
            <a:pPr algn="l"/>
            <a:r>
              <a:rPr sz="1400" b="0" i="0" dirty="0">
                <a:solidFill>
                  <a:srgbClr val="21295C"/>
                </a:solidFill>
                <a:latin typeface="Calibri"/>
              </a:rPr>
              <a:t>  ·  </a:t>
            </a:r>
            <a:r>
              <a:rPr lang="es-419" sz="1400" dirty="0">
                <a:solidFill>
                  <a:srgbClr val="21295C"/>
                </a:solidFill>
                <a:latin typeface="Calibri"/>
              </a:rPr>
              <a:t>E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mpleados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que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se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sienten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subpagados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frente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a pares con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experiencia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similar</a:t>
            </a:r>
          </a:p>
          <a:p>
            <a:pPr algn="l"/>
            <a:r>
              <a:rPr sz="1400" b="0" i="0" dirty="0">
                <a:solidFill>
                  <a:srgbClr val="21295C"/>
                </a:solidFill>
                <a:latin typeface="Calibri"/>
              </a:rPr>
              <a:t>  ·  </a:t>
            </a:r>
            <a:r>
              <a:rPr lang="es-419" sz="1400" b="0" i="0" dirty="0">
                <a:solidFill>
                  <a:srgbClr val="21295C"/>
                </a:solidFill>
                <a:latin typeface="Calibri"/>
              </a:rPr>
              <a:t>D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iferencias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salariales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notorias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dentro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del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mismo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departamento</a:t>
            </a:r>
            <a:endParaRPr sz="1400" b="0" i="0" dirty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400" b="0" i="0" dirty="0">
                <a:solidFill>
                  <a:srgbClr val="21295C"/>
                </a:solidFill>
                <a:latin typeface="Calibri"/>
              </a:rPr>
              <a:t>  ·  </a:t>
            </a:r>
            <a:r>
              <a:rPr lang="es-419" sz="1400" dirty="0">
                <a:solidFill>
                  <a:srgbClr val="21295C"/>
                </a:solidFill>
                <a:latin typeface="Calibri"/>
              </a:rPr>
              <a:t>D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udas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sobre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equidad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1295C"/>
                </a:solidFill>
                <a:latin typeface="Calibri"/>
              </a:rPr>
              <a:t>por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region, </a:t>
            </a:r>
            <a:r>
              <a:rPr lang="es-419" sz="1400" b="0" i="0" dirty="0">
                <a:solidFill>
                  <a:srgbClr val="21295C"/>
                </a:solidFill>
                <a:latin typeface="Calibri"/>
              </a:rPr>
              <a:t>educación</a:t>
            </a:r>
            <a:r>
              <a:rPr sz="1400" b="0" i="0" dirty="0">
                <a:solidFill>
                  <a:srgbClr val="21295C"/>
                </a:solidFill>
                <a:latin typeface="Calibri"/>
              </a:rPr>
              <a:t> y </a:t>
            </a:r>
            <a:r>
              <a:rPr lang="es-419" sz="1400" b="0" i="0" dirty="0">
                <a:solidFill>
                  <a:srgbClr val="21295C"/>
                </a:solidFill>
                <a:latin typeface="Calibri"/>
              </a:rPr>
              <a:t>género</a:t>
            </a:r>
            <a:endParaRPr sz="1400" b="0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0" y="155448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0" y="1737360"/>
            <a:ext cx="429768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CL" sz="1400" b="1" dirty="0">
                <a:solidFill>
                  <a:srgbClr val="E28E2F"/>
                </a:solidFill>
                <a:latin typeface="Calibri"/>
              </a:rPr>
              <a:t>Nos planteamos la pregunta:</a:t>
            </a:r>
            <a:endParaRPr sz="1400" b="1" i="0" dirty="0">
              <a:solidFill>
                <a:srgbClr val="E28E2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0" y="2286000"/>
            <a:ext cx="4297680" cy="114492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1800" b="1" i="1" dirty="0">
                <a:solidFill>
                  <a:srgbClr val="FFFFFF"/>
                </a:solidFill>
                <a:latin typeface="Calibri"/>
              </a:rPr>
              <a:t>¿</a:t>
            </a:r>
            <a:r>
              <a:rPr sz="1800" b="1" i="1" dirty="0">
                <a:solidFill>
                  <a:srgbClr val="FFFFFF"/>
                </a:solidFill>
                <a:latin typeface="Calibri"/>
              </a:rPr>
              <a:t>Cu</a:t>
            </a:r>
            <a:r>
              <a:rPr lang="es-419" sz="1800" b="1" i="1" dirty="0">
                <a:solidFill>
                  <a:srgbClr val="FFFFFF"/>
                </a:solidFill>
                <a:latin typeface="Calibri"/>
              </a:rPr>
              <a:t>á</a:t>
            </a:r>
            <a:r>
              <a:rPr sz="1800" b="1" i="1" dirty="0">
                <a:solidFill>
                  <a:srgbClr val="FFFFFF"/>
                </a:solidFill>
                <a:latin typeface="Calibri"/>
              </a:rPr>
              <a:t>les son los </a:t>
            </a:r>
            <a:r>
              <a:rPr sz="1800" b="1" i="1" dirty="0" err="1">
                <a:solidFill>
                  <a:srgbClr val="FFFFFF"/>
                </a:solidFill>
                <a:latin typeface="Calibri"/>
              </a:rPr>
              <a:t>factores</a:t>
            </a:r>
            <a:r>
              <a:rPr sz="1800" b="1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1" i="1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1800" b="1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1" i="1" dirty="0" err="1">
                <a:solidFill>
                  <a:srgbClr val="FFFFFF"/>
                </a:solidFill>
                <a:latin typeface="Calibri"/>
              </a:rPr>
              <a:t>realmente</a:t>
            </a:r>
            <a:r>
              <a:rPr sz="1800" b="1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1" i="1" dirty="0" err="1">
                <a:solidFill>
                  <a:srgbClr val="FFFFFF"/>
                </a:solidFill>
                <a:latin typeface="Calibri"/>
              </a:rPr>
              <a:t>determinan</a:t>
            </a:r>
            <a:r>
              <a:rPr sz="1800" b="1" i="1" dirty="0">
                <a:solidFill>
                  <a:srgbClr val="FFFFFF"/>
                </a:solidFill>
                <a:latin typeface="Calibri"/>
              </a:rPr>
              <a:t> el </a:t>
            </a:r>
            <a:r>
              <a:rPr sz="1800" b="1" i="1" dirty="0" err="1">
                <a:solidFill>
                  <a:srgbClr val="FFFFFF"/>
                </a:solidFill>
                <a:latin typeface="Calibri"/>
              </a:rPr>
              <a:t>salario</a:t>
            </a:r>
            <a:r>
              <a:rPr sz="1800" b="1" i="1" dirty="0">
                <a:solidFill>
                  <a:srgbClr val="FFFFFF"/>
                </a:solidFill>
                <a:latin typeface="Calibri"/>
              </a:rPr>
              <a:t> de un </a:t>
            </a:r>
            <a:r>
              <a:rPr sz="1800" b="1" i="1" dirty="0" err="1">
                <a:solidFill>
                  <a:srgbClr val="FFFFFF"/>
                </a:solidFill>
                <a:latin typeface="Calibri"/>
              </a:rPr>
              <a:t>empleado</a:t>
            </a:r>
            <a:r>
              <a:rPr sz="1800" b="1" i="1" dirty="0">
                <a:solidFill>
                  <a:srgbClr val="FFFFFF"/>
                </a:solidFill>
                <a:latin typeface="Calibri"/>
              </a:rPr>
              <a:t> en TalentCo, y </a:t>
            </a:r>
            <a:r>
              <a:rPr lang="es-419" sz="1800" b="1" i="1" dirty="0">
                <a:solidFill>
                  <a:srgbClr val="FFFFFF"/>
                </a:solidFill>
                <a:latin typeface="Calibri"/>
              </a:rPr>
              <a:t>cómo</a:t>
            </a:r>
            <a:r>
              <a:rPr sz="1800" b="1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1" i="1" dirty="0" err="1">
                <a:solidFill>
                  <a:srgbClr val="FFFFFF"/>
                </a:solidFill>
                <a:latin typeface="Calibri"/>
              </a:rPr>
              <a:t>podemos</a:t>
            </a:r>
            <a:r>
              <a:rPr sz="1800" b="1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1" i="1" dirty="0" err="1">
                <a:solidFill>
                  <a:srgbClr val="FFFFFF"/>
                </a:solidFill>
                <a:latin typeface="Calibri"/>
              </a:rPr>
              <a:t>mejorar</a:t>
            </a:r>
            <a:r>
              <a:rPr sz="1800" b="1" i="1" dirty="0">
                <a:solidFill>
                  <a:srgbClr val="FFFFFF"/>
                </a:solidFill>
                <a:latin typeface="Calibri"/>
              </a:rPr>
              <a:t> la </a:t>
            </a:r>
            <a:r>
              <a:rPr sz="1800" b="1" i="1" dirty="0" err="1">
                <a:solidFill>
                  <a:srgbClr val="FFFFFF"/>
                </a:solidFill>
                <a:latin typeface="Calibri"/>
              </a:rPr>
              <a:t>equidad</a:t>
            </a:r>
            <a:r>
              <a:rPr sz="1800" b="1" i="1" dirty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9120" y="4114800"/>
            <a:ext cx="11064240" cy="36576"/>
          </a:xfrm>
          <a:prstGeom prst="rect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4471416"/>
            <a:ext cx="1097280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1C7293"/>
                </a:solidFill>
                <a:latin typeface="Calibri"/>
              </a:rPr>
              <a:t>Nuestro </a:t>
            </a:r>
            <a:r>
              <a:rPr sz="1300" b="1" i="0" dirty="0" err="1">
                <a:solidFill>
                  <a:srgbClr val="1C7293"/>
                </a:solidFill>
                <a:latin typeface="Calibri"/>
              </a:rPr>
              <a:t>rol</a:t>
            </a:r>
            <a:r>
              <a:rPr sz="1300" b="1" i="0" dirty="0">
                <a:solidFill>
                  <a:srgbClr val="1C7293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C7293"/>
                </a:solidFill>
                <a:latin typeface="Calibri"/>
              </a:rPr>
              <a:t>como</a:t>
            </a:r>
            <a:r>
              <a:rPr sz="1300" b="1" i="0" dirty="0">
                <a:solidFill>
                  <a:srgbClr val="1C7293"/>
                </a:solidFill>
                <a:latin typeface="Calibri"/>
              </a:rPr>
              <a:t> anal</a:t>
            </a:r>
            <a:r>
              <a:rPr lang="es-419" sz="1300" b="1" i="0" dirty="0">
                <a:solidFill>
                  <a:srgbClr val="1C7293"/>
                </a:solidFill>
                <a:latin typeface="Calibri"/>
              </a:rPr>
              <a:t>í</a:t>
            </a:r>
            <a:r>
              <a:rPr sz="1300" b="1" i="0" dirty="0" err="1">
                <a:solidFill>
                  <a:srgbClr val="1C7293"/>
                </a:solidFill>
                <a:latin typeface="Calibri"/>
              </a:rPr>
              <a:t>stas</a:t>
            </a:r>
            <a:endParaRPr sz="1300" b="1" i="0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9120" y="4796028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555B6E"/>
                </a:solidFill>
                <a:latin typeface="Calibri"/>
              </a:rPr>
              <a:t>Limpiar datos → explorar → validar con hipotesis → modelar → recomendar.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Proyecto 01 — Analitica de RRHH  · 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55B6E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02 ·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libri"/>
              </a:rPr>
              <a:t>El dataset de partida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651760" cy="128016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26517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10.100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registros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recibidos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08760"/>
            <a:ext cx="2651760" cy="128016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1627632"/>
            <a:ext cx="26517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28600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variables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por empleado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2651760" cy="1280160"/>
          </a:xfrm>
          <a:prstGeom prst="roundRect">
            <a:avLst>
              <a:gd name="adj" fmla="val 8000"/>
            </a:avLst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627632"/>
            <a:ext cx="26517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variable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objetivo: Salary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508760"/>
            <a:ext cx="2651760" cy="128016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627632"/>
            <a:ext cx="26517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28600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predictores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potenciales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Variables disponibles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557016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557016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557016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Descripcion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11064240" cy="25603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858768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Salary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858768"/>
            <a:ext cx="32004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B6E"/>
                </a:solidFill>
                <a:latin typeface="Calibri"/>
              </a:rPr>
              <a:t>Num</a:t>
            </a:r>
            <a:r>
              <a:rPr lang="es-419" sz="1100" b="0" i="0" dirty="0">
                <a:solidFill>
                  <a:srgbClr val="555B6E"/>
                </a:solidFill>
                <a:latin typeface="Calibri"/>
              </a:rPr>
              <a:t>é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rica · USD/a</a:t>
            </a:r>
            <a:r>
              <a:rPr lang="es-CL" sz="1100" b="0" i="0" dirty="0">
                <a:solidFill>
                  <a:srgbClr val="555B6E"/>
                </a:solidFill>
                <a:latin typeface="Calibri"/>
              </a:rPr>
              <a:t>ñ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858768"/>
            <a:ext cx="3657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Variable objetivo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0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Years_Experience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114800"/>
            <a:ext cx="32004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B6E"/>
                </a:solidFill>
                <a:latin typeface="Calibri"/>
              </a:rPr>
              <a:t>Num</a:t>
            </a:r>
            <a:r>
              <a:rPr lang="es-419" sz="1100" b="0" i="0" dirty="0">
                <a:solidFill>
                  <a:srgbClr val="555B6E"/>
                </a:solidFill>
                <a:latin typeface="Calibri"/>
              </a:rPr>
              <a:t>é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rica · </a:t>
            </a:r>
            <a:r>
              <a:rPr lang="es-CL" sz="1100" b="0" i="0" dirty="0">
                <a:solidFill>
                  <a:srgbClr val="555B6E"/>
                </a:solidFill>
                <a:latin typeface="Calibri"/>
              </a:rPr>
              <a:t>años</a:t>
            </a:r>
            <a:endParaRPr sz="1100" b="0" i="0" dirty="0">
              <a:solidFill>
                <a:srgbClr val="555B6E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63840" y="4114800"/>
            <a:ext cx="3657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Antiguedad profesional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352544"/>
            <a:ext cx="11064240" cy="25603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370831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370831"/>
            <a:ext cx="32004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B6E"/>
                </a:solidFill>
                <a:latin typeface="Calibri"/>
              </a:rPr>
              <a:t>Num</a:t>
            </a:r>
            <a:r>
              <a:rPr lang="es-419" sz="1100" b="0" i="0" dirty="0">
                <a:solidFill>
                  <a:srgbClr val="555B6E"/>
                </a:solidFill>
                <a:latin typeface="Calibri"/>
              </a:rPr>
              <a:t>é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rica · a</a:t>
            </a:r>
            <a:r>
              <a:rPr lang="es-CL" sz="1100" b="0" i="0" dirty="0">
                <a:solidFill>
                  <a:srgbClr val="555B6E"/>
                </a:solidFill>
                <a:latin typeface="Calibri"/>
              </a:rPr>
              <a:t>ñ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os</a:t>
            </a:r>
            <a:endParaRPr sz="1100" b="0" i="0" dirty="0">
              <a:solidFill>
                <a:srgbClr val="555B6E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863840" y="4370831"/>
            <a:ext cx="3657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Edad biologica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626864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Performance_Score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626864"/>
            <a:ext cx="32004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B6E"/>
                </a:solidFill>
                <a:latin typeface="Calibri"/>
              </a:rPr>
              <a:t>Num</a:t>
            </a:r>
            <a:r>
              <a:rPr lang="es-419" sz="1100" b="0" i="0" dirty="0">
                <a:solidFill>
                  <a:srgbClr val="555B6E"/>
                </a:solidFill>
                <a:latin typeface="Calibri"/>
              </a:rPr>
              <a:t>é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rica · 1.0 - 5.0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626864"/>
            <a:ext cx="3657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Desempeno anual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864608"/>
            <a:ext cx="11064240" cy="25603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882896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Education_Level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882896"/>
            <a:ext cx="32004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 err="1">
                <a:solidFill>
                  <a:srgbClr val="555B6E"/>
                </a:solidFill>
                <a:latin typeface="Calibri"/>
              </a:rPr>
              <a:t>Categ</a:t>
            </a:r>
            <a:r>
              <a:rPr lang="es-419" sz="1100" b="0" i="0" dirty="0">
                <a:solidFill>
                  <a:srgbClr val="555B6E"/>
                </a:solidFill>
                <a:latin typeface="Calibri"/>
              </a:rPr>
              <a:t>ó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rica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882896"/>
            <a:ext cx="3657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Bachelor / Master / PhD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138928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Department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5138928"/>
            <a:ext cx="32004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 err="1">
                <a:solidFill>
                  <a:srgbClr val="555B6E"/>
                </a:solidFill>
                <a:latin typeface="Calibri"/>
              </a:rPr>
              <a:t>Categ</a:t>
            </a:r>
            <a:r>
              <a:rPr lang="es-419" sz="1100" b="0" i="0" dirty="0">
                <a:solidFill>
                  <a:srgbClr val="555B6E"/>
                </a:solidFill>
                <a:latin typeface="Calibri"/>
              </a:rPr>
              <a:t>ó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rica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5138928"/>
            <a:ext cx="3657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5 departamentos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76672"/>
            <a:ext cx="11064240" cy="25603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5394960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Region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5394960"/>
            <a:ext cx="32004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 err="1">
                <a:solidFill>
                  <a:srgbClr val="555B6E"/>
                </a:solidFill>
                <a:latin typeface="Calibri"/>
              </a:rPr>
              <a:t>Categ</a:t>
            </a:r>
            <a:r>
              <a:rPr lang="es-419" sz="1100" b="0" i="0" dirty="0">
                <a:solidFill>
                  <a:srgbClr val="555B6E"/>
                </a:solidFill>
                <a:latin typeface="Calibri"/>
              </a:rPr>
              <a:t>ó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rica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5394960"/>
            <a:ext cx="3657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Norte / Sur / Este / Oeste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650992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Job_Level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5650992"/>
            <a:ext cx="32004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 err="1">
                <a:solidFill>
                  <a:srgbClr val="555B6E"/>
                </a:solidFill>
                <a:latin typeface="Calibri"/>
              </a:rPr>
              <a:t>Categ</a:t>
            </a:r>
            <a:r>
              <a:rPr lang="es-419" sz="1100" b="0" i="0" dirty="0">
                <a:solidFill>
                  <a:srgbClr val="555B6E"/>
                </a:solidFill>
                <a:latin typeface="Calibri"/>
              </a:rPr>
              <a:t>ó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rica ORDINAL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5650992"/>
            <a:ext cx="3657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Junior &lt; Mid &lt; Senior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888736"/>
            <a:ext cx="11064240" cy="25603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1520" y="5907024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Gender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0" y="5907024"/>
            <a:ext cx="32004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 err="1">
                <a:solidFill>
                  <a:srgbClr val="555B6E"/>
                </a:solidFill>
                <a:latin typeface="Calibri"/>
              </a:rPr>
              <a:t>Categ</a:t>
            </a:r>
            <a:r>
              <a:rPr lang="es-419" sz="1100" b="0" i="0" dirty="0">
                <a:solidFill>
                  <a:srgbClr val="555B6E"/>
                </a:solidFill>
                <a:latin typeface="Calibri"/>
              </a:rPr>
              <a:t>ó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rica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5907024"/>
            <a:ext cx="3657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Male / Female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Proyecto 01 — Analitica de RRHH  ·  Datos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55B6E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02 · LIMPIEZA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 dirty="0">
                <a:solidFill>
                  <a:srgbClr val="21295C"/>
                </a:solidFill>
                <a:latin typeface="Calibri"/>
              </a:rPr>
              <a:t>El dataset </a:t>
            </a:r>
            <a:r>
              <a:rPr sz="2800" b="1" i="0" dirty="0" err="1">
                <a:solidFill>
                  <a:srgbClr val="21295C"/>
                </a:solidFill>
                <a:latin typeface="Calibri"/>
              </a:rPr>
              <a:t>ven</a:t>
            </a:r>
            <a:r>
              <a:rPr lang="es-419" sz="2800" b="1" i="0" dirty="0">
                <a:solidFill>
                  <a:srgbClr val="21295C"/>
                </a:solidFill>
                <a:latin typeface="Calibri"/>
              </a:rPr>
              <a:t>í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a </a:t>
            </a:r>
            <a:r>
              <a:rPr sz="2800" b="1" i="0" dirty="0" err="1">
                <a:solidFill>
                  <a:srgbClr val="21295C"/>
                </a:solidFill>
                <a:latin typeface="Calibri"/>
              </a:rPr>
              <a:t>sucio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: </a:t>
            </a:r>
            <a:r>
              <a:rPr sz="2800" b="1" i="0" dirty="0" err="1">
                <a:solidFill>
                  <a:srgbClr val="21295C"/>
                </a:solidFill>
                <a:latin typeface="Calibri"/>
              </a:rPr>
              <a:t>que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21295C"/>
                </a:solidFill>
                <a:latin typeface="Calibri"/>
              </a:rPr>
              <a:t>hicimos</a:t>
            </a:r>
            <a:endParaRPr sz="28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B0321F"/>
                </a:solidFill>
                <a:latin typeface="Calibri"/>
              </a:rPr>
              <a:t>Problemas detectados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2020824"/>
            <a:ext cx="164592" cy="164592"/>
          </a:xfrm>
          <a:prstGeom prst="ellipse">
            <a:avLst/>
          </a:prstGeom>
          <a:solidFill>
            <a:srgbClr val="B0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Education: "Bachelor", "bachelor", "MASTER", "PHD", "Phd" mezclados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350008"/>
            <a:ext cx="164592" cy="164592"/>
          </a:xfrm>
          <a:prstGeom prst="ellipse">
            <a:avLst/>
          </a:prstGeom>
          <a:solidFill>
            <a:srgbClr val="B0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95144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Department: "FINANCE" vs "Finance" vs "finance", "HR" vs "Hr"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679192"/>
            <a:ext cx="164592" cy="164592"/>
          </a:xfrm>
          <a:prstGeom prst="ellipse">
            <a:avLst/>
          </a:prstGeom>
          <a:solidFill>
            <a:srgbClr val="B0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Region: " South" (con espacio), " nan" como texto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008376"/>
            <a:ext cx="164592" cy="164592"/>
          </a:xfrm>
          <a:prstGeom prst="ellipse">
            <a:avLst/>
          </a:prstGeom>
          <a:solidFill>
            <a:srgbClr val="B0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2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Job_Level: "Senior " con espacio final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337560"/>
            <a:ext cx="164592" cy="164592"/>
          </a:xfrm>
          <a:prstGeom prst="ellipse">
            <a:avLst/>
          </a:prstGeom>
          <a:solidFill>
            <a:srgbClr val="B0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282696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Gender: "nan " como string, espacios sobrantes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666744"/>
            <a:ext cx="164592" cy="164592"/>
          </a:xfrm>
          <a:prstGeom prst="ellipse">
            <a:avLst/>
          </a:prstGeom>
          <a:solidFill>
            <a:srgbClr val="B0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611879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203 filas sin Salary (variable objetivo)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995928"/>
            <a:ext cx="164592" cy="164592"/>
          </a:xfrm>
          <a:prstGeom prst="ellipse">
            <a:avLst/>
          </a:prstGeom>
          <a:solidFill>
            <a:srgbClr val="B0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941064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97 filas exactamente duplicadas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4325112"/>
            <a:ext cx="164592" cy="164592"/>
          </a:xfrm>
          <a:prstGeom prst="ellipse">
            <a:avLst/>
          </a:prstGeom>
          <a:solidFill>
            <a:srgbClr val="B0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270248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405 NaN en Years_Experience, 303 en Age, etc.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50876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2E8B57"/>
                </a:solidFill>
                <a:latin typeface="Calibri"/>
              </a:rPr>
              <a:t>Soluciones aplicadas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2020824"/>
            <a:ext cx="164592" cy="16459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80" y="196596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strip + title 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185415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para todas las categoricas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2459736"/>
            <a:ext cx="164592" cy="16459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2404872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Mapeo manual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624328"/>
            <a:ext cx="50292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B6E"/>
                </a:solidFill>
                <a:latin typeface="Calibri"/>
              </a:rPr>
              <a:t>PhD y HR (may</a:t>
            </a:r>
            <a:r>
              <a:rPr lang="es-419" sz="1100" b="0" i="0" dirty="0">
                <a:solidFill>
                  <a:srgbClr val="555B6E"/>
                </a:solidFill>
                <a:latin typeface="Calibri"/>
              </a:rPr>
              <a:t>ú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sculas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particulares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)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2898648"/>
            <a:ext cx="164592" cy="16459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12280" y="2843784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Eliminar duplicados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063239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97 filas removidas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3337560"/>
            <a:ext cx="164592" cy="16459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12280" y="3282696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Drop si falta Salary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502152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no se imputa la variable objetivo</a:t>
            </a:r>
          </a:p>
        </p:txBody>
      </p:sp>
      <p:sp>
        <p:nvSpPr>
          <p:cNvPr id="34" name="Oval 33"/>
          <p:cNvSpPr/>
          <p:nvPr/>
        </p:nvSpPr>
        <p:spPr>
          <a:xfrm>
            <a:off x="6537960" y="3776472"/>
            <a:ext cx="164592" cy="16459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12280" y="3721608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Imputar mediana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941064"/>
            <a:ext cx="50292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B6E"/>
                </a:solidFill>
                <a:latin typeface="Calibri"/>
              </a:rPr>
              <a:t>variables n</a:t>
            </a:r>
            <a:r>
              <a:rPr lang="es-419" sz="1100" dirty="0">
                <a:solidFill>
                  <a:srgbClr val="555B6E"/>
                </a:solidFill>
                <a:latin typeface="Calibri"/>
              </a:rPr>
              <a:t>u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m</a:t>
            </a:r>
            <a:r>
              <a:rPr lang="es-419" sz="1100" b="0" i="0" dirty="0">
                <a:solidFill>
                  <a:srgbClr val="555B6E"/>
                </a:solidFill>
                <a:latin typeface="Calibri"/>
              </a:rPr>
              <a:t>é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ricas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 (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robusto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 a outliers)</a:t>
            </a:r>
          </a:p>
        </p:txBody>
      </p:sp>
      <p:sp>
        <p:nvSpPr>
          <p:cNvPr id="37" name="Oval 36"/>
          <p:cNvSpPr/>
          <p:nvPr/>
        </p:nvSpPr>
        <p:spPr>
          <a:xfrm>
            <a:off x="6537960" y="4215383"/>
            <a:ext cx="164592" cy="16459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12280" y="416052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Imputar moda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379976"/>
            <a:ext cx="50292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B6E"/>
                </a:solidFill>
                <a:latin typeface="Calibri"/>
              </a:rPr>
              <a:t>variables 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categ</a:t>
            </a:r>
            <a:r>
              <a:rPr lang="es-419" sz="1100" b="0" i="0" dirty="0">
                <a:solidFill>
                  <a:srgbClr val="555B6E"/>
                </a:solidFill>
                <a:latin typeface="Calibri"/>
              </a:rPr>
              <a:t>ó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ricas</a:t>
            </a:r>
            <a:endParaRPr sz="1100" b="0" i="0" dirty="0">
              <a:solidFill>
                <a:srgbClr val="555B6E"/>
              </a:solidFill>
              <a:latin typeface="Calibri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" y="5577840"/>
            <a:ext cx="10698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E28E2F"/>
                </a:solidFill>
                <a:latin typeface="Calibri"/>
              </a:rPr>
              <a:t>RESULTADO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806440"/>
            <a:ext cx="1069848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Calibri"/>
              </a:rPr>
              <a:t>9.803 </a:t>
            </a:r>
            <a:r>
              <a:rPr sz="1800" b="1" i="0" dirty="0" err="1">
                <a:solidFill>
                  <a:srgbClr val="FFFFFF"/>
                </a:solidFill>
                <a:latin typeface="Calibri"/>
              </a:rPr>
              <a:t>filas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Calibri"/>
              </a:rPr>
              <a:t>limpias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 · 0 </a:t>
            </a:r>
            <a:r>
              <a:rPr sz="1800" b="1" i="0" dirty="0" err="1">
                <a:solidFill>
                  <a:srgbClr val="FFFFFF"/>
                </a:solidFill>
                <a:latin typeface="Calibri"/>
              </a:rPr>
              <a:t>nulos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 · </a:t>
            </a:r>
            <a:r>
              <a:rPr lang="es-419" sz="1800" b="1" i="0" dirty="0">
                <a:solidFill>
                  <a:srgbClr val="FFFFFF"/>
                </a:solidFill>
                <a:latin typeface="Calibri"/>
              </a:rPr>
              <a:t>categorías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Calibri"/>
              </a:rPr>
              <a:t>estandarizadas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 · </a:t>
            </a:r>
            <a:r>
              <a:rPr sz="1800" b="1" i="0" dirty="0" err="1">
                <a:solidFill>
                  <a:srgbClr val="FFFFFF"/>
                </a:solidFill>
                <a:latin typeface="Calibri"/>
              </a:rPr>
              <a:t>listo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 para </a:t>
            </a:r>
            <a:r>
              <a:rPr sz="1800" b="1" i="0" dirty="0" err="1">
                <a:solidFill>
                  <a:srgbClr val="FFFFFF"/>
                </a:solidFill>
                <a:latin typeface="Calibri"/>
              </a:rPr>
              <a:t>modelar</a:t>
            </a:r>
            <a:endParaRPr sz="1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Proyecto 01 — Analitica de RRHH  ·  Limpieza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55B6E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03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2800" b="1" i="0" dirty="0">
                <a:solidFill>
                  <a:srgbClr val="21295C"/>
                </a:solidFill>
                <a:latin typeface="Calibri"/>
              </a:rPr>
              <a:t>¿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C</a:t>
            </a:r>
            <a:r>
              <a:rPr lang="es-419" sz="2800" b="1" i="0" dirty="0">
                <a:solidFill>
                  <a:srgbClr val="21295C"/>
                </a:solidFill>
                <a:latin typeface="Calibri"/>
              </a:rPr>
              <a:t>ó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mo se </a:t>
            </a:r>
            <a:r>
              <a:rPr sz="2800" b="1" i="0" dirty="0" err="1">
                <a:solidFill>
                  <a:srgbClr val="21295C"/>
                </a:solidFill>
                <a:latin typeface="Calibri"/>
              </a:rPr>
              <a:t>distribuye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 el </a:t>
            </a:r>
            <a:r>
              <a:rPr sz="2800" b="1" i="0" dirty="0" err="1">
                <a:solidFill>
                  <a:srgbClr val="21295C"/>
                </a:solidFill>
                <a:latin typeface="Calibri"/>
              </a:rPr>
              <a:t>salario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?</a:t>
            </a:r>
          </a:p>
        </p:txBody>
      </p:sp>
      <p:pic>
        <p:nvPicPr>
          <p:cNvPr id="4" name="Picture 3" descr="fig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67512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554480"/>
            <a:ext cx="4297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Lectura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965960"/>
            <a:ext cx="4297680" cy="1097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43800" y="2057400"/>
            <a:ext cx="4114800" cy="6832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21295C"/>
                </a:solidFill>
                <a:latin typeface="Calibri"/>
              </a:rPr>
              <a:t>Media:    US$ 95.769</a:t>
            </a:r>
          </a:p>
          <a:p>
            <a:pPr algn="l"/>
            <a:r>
              <a:rPr sz="1400" b="1" i="0" dirty="0" err="1">
                <a:solidFill>
                  <a:srgbClr val="21295C"/>
                </a:solidFill>
                <a:latin typeface="Calibri"/>
              </a:rPr>
              <a:t>Mediana</a:t>
            </a:r>
            <a:r>
              <a:rPr sz="1400" b="1" i="0" dirty="0">
                <a:solidFill>
                  <a:srgbClr val="21295C"/>
                </a:solidFill>
                <a:latin typeface="Calibri"/>
              </a:rPr>
              <a:t>: US$ 91.732</a:t>
            </a:r>
          </a:p>
          <a:p>
            <a:pPr algn="l"/>
            <a:r>
              <a:rPr sz="1400" b="1" i="0" dirty="0" err="1">
                <a:solidFill>
                  <a:srgbClr val="21295C"/>
                </a:solidFill>
                <a:latin typeface="Calibri"/>
              </a:rPr>
              <a:t>Diferencia</a:t>
            </a:r>
            <a:r>
              <a:rPr sz="1400" b="1" i="0" dirty="0">
                <a:solidFill>
                  <a:srgbClr val="21295C"/>
                </a:solidFill>
                <a:latin typeface="Calibri"/>
              </a:rPr>
              <a:t> → </a:t>
            </a:r>
            <a:r>
              <a:rPr sz="1400" b="1" i="0" dirty="0" err="1">
                <a:solidFill>
                  <a:srgbClr val="21295C"/>
                </a:solidFill>
                <a:latin typeface="Calibri"/>
              </a:rPr>
              <a:t>asimetr</a:t>
            </a:r>
            <a:r>
              <a:rPr lang="es-419" sz="1400" b="1" i="0" dirty="0">
                <a:solidFill>
                  <a:srgbClr val="21295C"/>
                </a:solidFill>
                <a:latin typeface="Calibri"/>
              </a:rPr>
              <a:t>í</a:t>
            </a:r>
            <a:r>
              <a:rPr sz="1400" b="1" i="0" dirty="0">
                <a:solidFill>
                  <a:srgbClr val="21295C"/>
                </a:solidFill>
                <a:latin typeface="Calibri"/>
              </a:rPr>
              <a:t>a </a:t>
            </a:r>
            <a:r>
              <a:rPr sz="1400" b="1" i="0" dirty="0" err="1">
                <a:solidFill>
                  <a:srgbClr val="21295C"/>
                </a:solidFill>
                <a:latin typeface="Calibri"/>
              </a:rPr>
              <a:t>positiva</a:t>
            </a:r>
            <a:endParaRPr sz="14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06640" y="3246120"/>
            <a:ext cx="429768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1400" b="1" i="0" dirty="0">
                <a:solidFill>
                  <a:srgbClr val="1C7293"/>
                </a:solidFill>
                <a:latin typeface="Calibri"/>
              </a:rPr>
              <a:t>¿</a:t>
            </a:r>
            <a:r>
              <a:rPr sz="1400" b="1" i="0" dirty="0">
                <a:solidFill>
                  <a:srgbClr val="1C7293"/>
                </a:solidFill>
                <a:latin typeface="Calibri"/>
              </a:rPr>
              <a:t>Qu</a:t>
            </a:r>
            <a:r>
              <a:rPr lang="es-419" sz="1400" b="1" i="0" dirty="0">
                <a:solidFill>
                  <a:srgbClr val="1C7293"/>
                </a:solidFill>
                <a:latin typeface="Calibri"/>
              </a:rPr>
              <a:t>é</a:t>
            </a:r>
            <a:r>
              <a:rPr sz="1400" b="1" i="0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C7293"/>
                </a:solidFill>
                <a:latin typeface="Calibri"/>
              </a:rPr>
              <a:t>significa</a:t>
            </a:r>
            <a:r>
              <a:rPr lang="es-419" sz="1400" b="1" i="0" dirty="0">
                <a:solidFill>
                  <a:srgbClr val="1C7293"/>
                </a:solidFill>
                <a:latin typeface="Calibri"/>
              </a:rPr>
              <a:t>?</a:t>
            </a:r>
            <a:endParaRPr sz="1400" b="1" i="0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06640" y="3611880"/>
            <a:ext cx="4297680" cy="114492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La </a:t>
            </a:r>
            <a:r>
              <a:rPr lang="es-419" sz="1200" b="0" i="0" dirty="0">
                <a:solidFill>
                  <a:srgbClr val="21295C"/>
                </a:solidFill>
                <a:latin typeface="Calibri"/>
              </a:rPr>
              <a:t>mayoría 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de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empleados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gana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entre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US$70K y US$110K,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pero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existe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una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cola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larga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salarios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altos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que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tira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la media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por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encima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de la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mediana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.</a:t>
            </a:r>
          </a:p>
          <a:p>
            <a:pPr algn="l"/>
            <a:endParaRPr sz="1200" b="0" i="0" dirty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Es el patron </a:t>
            </a:r>
            <a:r>
              <a:rPr lang="es-419" sz="1200" b="0" i="0" dirty="0">
                <a:solidFill>
                  <a:srgbClr val="21295C"/>
                </a:solidFill>
                <a:latin typeface="Calibri"/>
              </a:rPr>
              <a:t>típico 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en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compensaciones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: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unos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pocos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seniors con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remuneraciones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muy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superiores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al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promedio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Proyecto 01 — Analitica de RRHH  ·  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55B6E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03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libri"/>
              </a:rPr>
              <a:t>El nivel de cargo separa con claridad</a:t>
            </a:r>
          </a:p>
        </p:txBody>
      </p:sp>
      <p:pic>
        <p:nvPicPr>
          <p:cNvPr id="4" name="Picture 3" descr="fi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67512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554480"/>
            <a:ext cx="4297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Lectura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965960"/>
            <a:ext cx="4297680" cy="50292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43800" y="2075688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Junior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2075688"/>
            <a:ext cx="2194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Calibri"/>
              </a:rPr>
              <a:t>~US$ 75K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560320"/>
            <a:ext cx="4297680" cy="50292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2670048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670048"/>
            <a:ext cx="2194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Calibri"/>
              </a:rPr>
              <a:t>~US$ 95K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154680"/>
            <a:ext cx="4297680" cy="50292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3264408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Senior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3264408"/>
            <a:ext cx="2194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Calibri"/>
              </a:rPr>
              <a:t>~US$ 127K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886200"/>
            <a:ext cx="429768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1400" b="1" i="0" dirty="0">
                <a:solidFill>
                  <a:srgbClr val="1C7293"/>
                </a:solidFill>
                <a:latin typeface="Calibri"/>
              </a:rPr>
              <a:t>Conclusión</a:t>
            </a:r>
            <a:endParaRPr sz="1400" b="1" i="0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06640" y="4251960"/>
            <a:ext cx="4297680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Las tres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bandas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casi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no se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superponen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.</a:t>
            </a:r>
          </a:p>
          <a:p>
            <a:pPr algn="l"/>
            <a:endParaRPr sz="1200" b="0" i="0" dirty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Job_Level </a:t>
            </a:r>
            <a:r>
              <a:rPr lang="es-419" sz="1200" b="0" i="0" dirty="0">
                <a:solidFill>
                  <a:srgbClr val="21295C"/>
                </a:solidFill>
                <a:latin typeface="Calibri"/>
              </a:rPr>
              <a:t>será 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uno de los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principales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predictores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del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modelo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Proyecto 01 — Analitica de RRHH  ·  EDA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55B6E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03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 dirty="0">
                <a:solidFill>
                  <a:srgbClr val="21295C"/>
                </a:solidFill>
                <a:latin typeface="Calibri"/>
              </a:rPr>
              <a:t>M</a:t>
            </a:r>
            <a:r>
              <a:rPr lang="es-419" sz="2800" b="1" i="0" dirty="0">
                <a:solidFill>
                  <a:srgbClr val="21295C"/>
                </a:solidFill>
                <a:latin typeface="Calibri"/>
              </a:rPr>
              <a:t>á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s </a:t>
            </a:r>
            <a:r>
              <a:rPr sz="2800" b="1" i="0" dirty="0" err="1">
                <a:solidFill>
                  <a:srgbClr val="21295C"/>
                </a:solidFill>
                <a:latin typeface="Calibri"/>
              </a:rPr>
              <a:t>experiencia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 → </a:t>
            </a:r>
            <a:r>
              <a:rPr lang="es-419" sz="2800" b="1" dirty="0">
                <a:solidFill>
                  <a:srgbClr val="21295C"/>
                </a:solidFill>
                <a:latin typeface="Calibri"/>
              </a:rPr>
              <a:t>Má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s </a:t>
            </a:r>
            <a:r>
              <a:rPr sz="2800" b="1" i="0" dirty="0" err="1">
                <a:solidFill>
                  <a:srgbClr val="21295C"/>
                </a:solidFill>
                <a:latin typeface="Calibri"/>
              </a:rPr>
              <a:t>salario</a:t>
            </a:r>
            <a:endParaRPr sz="2800" b="1" i="0" dirty="0">
              <a:solidFill>
                <a:srgbClr val="21295C"/>
              </a:solidFill>
              <a:latin typeface="Calibri"/>
            </a:endParaRPr>
          </a:p>
        </p:txBody>
      </p:sp>
      <p:pic>
        <p:nvPicPr>
          <p:cNvPr id="4" name="Picture 3" descr="fig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1323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554480"/>
            <a:ext cx="3931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Lectura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965960"/>
            <a:ext cx="3931920" cy="128016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0" y="2057400"/>
            <a:ext cx="393192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0" dirty="0" err="1">
                <a:solidFill>
                  <a:srgbClr val="E28E2F"/>
                </a:solidFill>
                <a:latin typeface="Calibri"/>
              </a:rPr>
              <a:t>Correlaci</a:t>
            </a:r>
            <a:r>
              <a:rPr lang="es-419" sz="1100" b="0" i="0" dirty="0">
                <a:solidFill>
                  <a:srgbClr val="E28E2F"/>
                </a:solidFill>
                <a:latin typeface="Calibri"/>
              </a:rPr>
              <a:t>ó</a:t>
            </a:r>
            <a:r>
              <a:rPr sz="1100" b="0" i="0" dirty="0">
                <a:solidFill>
                  <a:srgbClr val="E28E2F"/>
                </a:solidFill>
                <a:latin typeface="Calibri"/>
              </a:rPr>
              <a:t>n de Pearson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31720"/>
            <a:ext cx="39319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r = 0,56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971800"/>
            <a:ext cx="393192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s-419" sz="1000" i="1" dirty="0">
                <a:solidFill>
                  <a:srgbClr val="CADCFC"/>
                </a:solidFill>
                <a:latin typeface="Calibri"/>
              </a:rPr>
              <a:t>A</a:t>
            </a:r>
            <a:r>
              <a:rPr sz="1000" b="0" i="1" dirty="0" err="1">
                <a:solidFill>
                  <a:srgbClr val="CADCFC"/>
                </a:solidFill>
                <a:latin typeface="Calibri"/>
              </a:rPr>
              <a:t>sociaci</a:t>
            </a:r>
            <a:r>
              <a:rPr lang="es-419" sz="1000" b="0" i="1" dirty="0">
                <a:solidFill>
                  <a:srgbClr val="CADCFC"/>
                </a:solidFill>
                <a:latin typeface="Calibri"/>
              </a:rPr>
              <a:t>ó</a:t>
            </a:r>
            <a:r>
              <a:rPr sz="1000" b="0" i="1" dirty="0">
                <a:solidFill>
                  <a:srgbClr val="CADCFC"/>
                </a:solidFill>
                <a:latin typeface="Calibri"/>
              </a:rPr>
              <a:t>n </a:t>
            </a:r>
            <a:r>
              <a:rPr sz="1000" b="0" i="1" dirty="0" err="1">
                <a:solidFill>
                  <a:srgbClr val="CADCFC"/>
                </a:solidFill>
                <a:latin typeface="Calibri"/>
              </a:rPr>
              <a:t>positiva</a:t>
            </a:r>
            <a:r>
              <a:rPr sz="1000" b="0" i="1" dirty="0">
                <a:solidFill>
                  <a:srgbClr val="CADCFC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CADCFC"/>
                </a:solidFill>
                <a:latin typeface="Calibri"/>
              </a:rPr>
              <a:t>fuerte</a:t>
            </a:r>
            <a:endParaRPr sz="1000" b="0" i="1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0" y="3429000"/>
            <a:ext cx="39319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1400" b="1" i="0" dirty="0">
                <a:solidFill>
                  <a:srgbClr val="1C7293"/>
                </a:solidFill>
                <a:latin typeface="Calibri"/>
              </a:rPr>
              <a:t>¿Qué </a:t>
            </a:r>
            <a:r>
              <a:rPr sz="1400" b="1" i="0" dirty="0" err="1">
                <a:solidFill>
                  <a:srgbClr val="1C7293"/>
                </a:solidFill>
                <a:latin typeface="Calibri"/>
              </a:rPr>
              <a:t>vemos</a:t>
            </a:r>
            <a:r>
              <a:rPr lang="es-419" sz="1400" b="1" i="0" dirty="0">
                <a:solidFill>
                  <a:srgbClr val="1C7293"/>
                </a:solidFill>
                <a:latin typeface="Calibri"/>
              </a:rPr>
              <a:t>?</a:t>
            </a:r>
            <a:endParaRPr sz="1400" b="1" i="0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0" y="3794760"/>
            <a:ext cx="3931920" cy="96026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La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nube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ascendente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confirma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la </a:t>
            </a:r>
            <a:r>
              <a:rPr lang="es-419" sz="1200" b="0" i="0" dirty="0">
                <a:solidFill>
                  <a:srgbClr val="21295C"/>
                </a:solidFill>
                <a:latin typeface="Calibri"/>
              </a:rPr>
              <a:t>relación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.</a:t>
            </a:r>
          </a:p>
          <a:p>
            <a:pPr algn="l"/>
            <a:endParaRPr sz="1200" b="0" i="0" dirty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Los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colores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muestran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que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experiencia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y cargo se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mueven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juntos,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pero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no son lo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mismo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: hay seniors con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poca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experiencia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y juniors con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muchos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a</a:t>
            </a:r>
            <a:r>
              <a:rPr lang="es-419" sz="1200" b="0" i="0" dirty="0">
                <a:solidFill>
                  <a:srgbClr val="21295C"/>
                </a:solidFill>
                <a:latin typeface="Calibri"/>
              </a:rPr>
              <a:t>ños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Proyecto 01 — Analitica de RRHH  ·  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55B6E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03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2800" b="1" i="0" dirty="0">
                <a:solidFill>
                  <a:srgbClr val="21295C"/>
                </a:solidFill>
                <a:latin typeface="Calibri"/>
              </a:rPr>
              <a:t>Ingeniería </a:t>
            </a:r>
            <a:r>
              <a:rPr sz="2800" b="1" i="0" dirty="0" err="1">
                <a:solidFill>
                  <a:srgbClr val="21295C"/>
                </a:solidFill>
                <a:latin typeface="Calibri"/>
              </a:rPr>
              <a:t>paga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 m</a:t>
            </a:r>
            <a:r>
              <a:rPr lang="es-419" sz="2800" b="1" i="0" dirty="0">
                <a:solidFill>
                  <a:srgbClr val="21295C"/>
                </a:solidFill>
                <a:latin typeface="Calibri"/>
              </a:rPr>
              <a:t>á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s </a:t>
            </a:r>
            <a:r>
              <a:rPr sz="2800" b="1" i="0" dirty="0" err="1">
                <a:solidFill>
                  <a:srgbClr val="21295C"/>
                </a:solidFill>
                <a:latin typeface="Calibri"/>
              </a:rPr>
              <a:t>que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 el </a:t>
            </a:r>
            <a:r>
              <a:rPr sz="2800" b="1" i="0" dirty="0" err="1">
                <a:solidFill>
                  <a:srgbClr val="21295C"/>
                </a:solidFill>
                <a:latin typeface="Calibri"/>
              </a:rPr>
              <a:t>resto</a:t>
            </a:r>
            <a:endParaRPr sz="2800" b="1" i="0" dirty="0">
              <a:solidFill>
                <a:srgbClr val="21295C"/>
              </a:solidFill>
              <a:latin typeface="Calibri"/>
            </a:endParaRPr>
          </a:p>
        </p:txBody>
      </p:sp>
      <p:pic>
        <p:nvPicPr>
          <p:cNvPr id="4" name="Picture 3" descr="fig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13232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554480"/>
            <a:ext cx="3931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Lectura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965960"/>
            <a:ext cx="39319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Las diferencias entre departamentos son grandes — del orden de decenas de miles de dolares.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743200"/>
            <a:ext cx="3931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Tres explicaciones posibles</a:t>
            </a:r>
          </a:p>
        </p:txBody>
      </p:sp>
      <p:sp>
        <p:nvSpPr>
          <p:cNvPr id="8" name="Oval 7"/>
          <p:cNvSpPr/>
          <p:nvPr/>
        </p:nvSpPr>
        <p:spPr>
          <a:xfrm>
            <a:off x="7909560" y="3227832"/>
            <a:ext cx="146304" cy="146304"/>
          </a:xfrm>
          <a:prstGeom prst="ellipse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3154680"/>
            <a:ext cx="36576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21295C"/>
                </a:solidFill>
                <a:latin typeface="Calibri"/>
              </a:rPr>
              <a:t>Mercado </a:t>
            </a:r>
            <a:r>
              <a:rPr sz="1100" b="0" i="0" dirty="0" err="1">
                <a:solidFill>
                  <a:srgbClr val="21295C"/>
                </a:solidFill>
                <a:latin typeface="Calibri"/>
              </a:rPr>
              <a:t>externo</a:t>
            </a:r>
            <a:r>
              <a:rPr sz="1100" b="0" i="0" dirty="0">
                <a:solidFill>
                  <a:srgbClr val="21295C"/>
                </a:solidFill>
                <a:latin typeface="Calibri"/>
              </a:rPr>
              <a:t> (</a:t>
            </a:r>
            <a:r>
              <a:rPr sz="1100" b="0" i="0" dirty="0" err="1">
                <a:solidFill>
                  <a:srgbClr val="21295C"/>
                </a:solidFill>
                <a:latin typeface="Calibri"/>
              </a:rPr>
              <a:t>ingenieros</a:t>
            </a:r>
            <a:r>
              <a:rPr sz="1100" b="0" i="0" dirty="0">
                <a:solidFill>
                  <a:srgbClr val="21295C"/>
                </a:solidFill>
                <a:latin typeface="Calibri"/>
              </a:rPr>
              <a:t> m</a:t>
            </a:r>
            <a:r>
              <a:rPr lang="es-419" sz="1100" b="0" i="0" dirty="0">
                <a:solidFill>
                  <a:srgbClr val="21295C"/>
                </a:solidFill>
                <a:latin typeface="Calibri"/>
              </a:rPr>
              <a:t>á</a:t>
            </a:r>
            <a:r>
              <a:rPr sz="1100" b="0" i="0" dirty="0">
                <a:solidFill>
                  <a:srgbClr val="21295C"/>
                </a:solidFill>
                <a:latin typeface="Calibri"/>
              </a:rPr>
              <a:t>s </a:t>
            </a:r>
            <a:r>
              <a:rPr sz="1100" b="0" i="0" dirty="0" err="1">
                <a:solidFill>
                  <a:srgbClr val="21295C"/>
                </a:solidFill>
                <a:latin typeface="Calibri"/>
              </a:rPr>
              <a:t>caros</a:t>
            </a:r>
            <a:r>
              <a:rPr sz="1100" b="0" i="0" dirty="0">
                <a:solidFill>
                  <a:srgbClr val="21295C"/>
                </a:solidFill>
                <a:latin typeface="Calibri"/>
              </a:rPr>
              <a:t>)</a:t>
            </a:r>
          </a:p>
        </p:txBody>
      </p:sp>
      <p:sp>
        <p:nvSpPr>
          <p:cNvPr id="10" name="Oval 9"/>
          <p:cNvSpPr/>
          <p:nvPr/>
        </p:nvSpPr>
        <p:spPr>
          <a:xfrm>
            <a:off x="7909560" y="3730752"/>
            <a:ext cx="146304" cy="146304"/>
          </a:xfrm>
          <a:prstGeom prst="ellipse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3657600"/>
            <a:ext cx="36576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 err="1">
                <a:solidFill>
                  <a:srgbClr val="21295C"/>
                </a:solidFill>
                <a:latin typeface="Calibri"/>
              </a:rPr>
              <a:t>Composici</a:t>
            </a:r>
            <a:r>
              <a:rPr lang="es-419" sz="1100" b="0" i="0" dirty="0">
                <a:solidFill>
                  <a:srgbClr val="21295C"/>
                </a:solidFill>
                <a:latin typeface="Calibri"/>
              </a:rPr>
              <a:t>ó</a:t>
            </a:r>
            <a:r>
              <a:rPr sz="1100" b="0" i="0" dirty="0">
                <a:solidFill>
                  <a:srgbClr val="21295C"/>
                </a:solidFill>
                <a:latin typeface="Calibri"/>
              </a:rPr>
              <a:t>n de </a:t>
            </a:r>
            <a:r>
              <a:rPr sz="1100" b="0" i="0" dirty="0" err="1">
                <a:solidFill>
                  <a:srgbClr val="21295C"/>
                </a:solidFill>
                <a:latin typeface="Calibri"/>
              </a:rPr>
              <a:t>niveles</a:t>
            </a:r>
            <a:r>
              <a:rPr sz="1100" b="0" i="0" dirty="0">
                <a:solidFill>
                  <a:srgbClr val="21295C"/>
                </a:solidFill>
                <a:latin typeface="Calibri"/>
              </a:rPr>
              <a:t> (</a:t>
            </a:r>
            <a:r>
              <a:rPr lang="es-419" sz="1100" b="0" i="0" dirty="0">
                <a:solidFill>
                  <a:srgbClr val="21295C"/>
                </a:solidFill>
                <a:latin typeface="Calibri"/>
              </a:rPr>
              <a:t>más</a:t>
            </a:r>
            <a:r>
              <a:rPr sz="1100" b="0" i="0" dirty="0">
                <a:solidFill>
                  <a:srgbClr val="21295C"/>
                </a:solidFill>
                <a:latin typeface="Calibri"/>
              </a:rPr>
              <a:t> seniors en Engineering)</a:t>
            </a:r>
          </a:p>
        </p:txBody>
      </p:sp>
      <p:sp>
        <p:nvSpPr>
          <p:cNvPr id="12" name="Oval 11"/>
          <p:cNvSpPr/>
          <p:nvPr/>
        </p:nvSpPr>
        <p:spPr>
          <a:xfrm>
            <a:off x="7909560" y="4233672"/>
            <a:ext cx="146304" cy="146304"/>
          </a:xfrm>
          <a:prstGeom prst="ellipse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4160520"/>
            <a:ext cx="36576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1100" b="0" i="0" dirty="0">
                <a:solidFill>
                  <a:srgbClr val="21295C"/>
                </a:solidFill>
                <a:latin typeface="Calibri"/>
              </a:rPr>
              <a:t>Políticas</a:t>
            </a:r>
            <a:r>
              <a:rPr sz="11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1295C"/>
                </a:solidFill>
                <a:latin typeface="Calibri"/>
              </a:rPr>
              <a:t>internas</a:t>
            </a:r>
            <a:r>
              <a:rPr sz="11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1295C"/>
                </a:solidFill>
                <a:latin typeface="Calibri"/>
              </a:rPr>
              <a:t>heredadas</a:t>
            </a:r>
            <a:endParaRPr sz="1100" b="0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863840" y="493776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5029200"/>
            <a:ext cx="3749039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1" dirty="0">
                <a:solidFill>
                  <a:srgbClr val="FFFFFF"/>
                </a:solidFill>
                <a:latin typeface="Calibri"/>
              </a:rPr>
              <a:t>El </a:t>
            </a:r>
            <a:r>
              <a:rPr sz="1100" b="1" i="1" dirty="0" err="1">
                <a:solidFill>
                  <a:srgbClr val="FFFFFF"/>
                </a:solidFill>
                <a:latin typeface="Calibri"/>
              </a:rPr>
              <a:t>modelo</a:t>
            </a:r>
            <a:r>
              <a:rPr sz="1100" b="1" i="1" dirty="0">
                <a:solidFill>
                  <a:srgbClr val="FFFFFF"/>
                </a:solidFill>
                <a:latin typeface="Calibri"/>
              </a:rPr>
              <a:t> nos </a:t>
            </a:r>
            <a:r>
              <a:rPr lang="es-419" sz="1100" b="1" i="1" dirty="0">
                <a:solidFill>
                  <a:srgbClr val="FFFFFF"/>
                </a:solidFill>
                <a:latin typeface="Calibri"/>
              </a:rPr>
              <a:t>dirá</a:t>
            </a:r>
            <a:r>
              <a:rPr sz="1100" b="1" i="1" dirty="0">
                <a:solidFill>
                  <a:srgbClr val="FFFFFF"/>
                </a:solidFill>
                <a:latin typeface="Calibri"/>
              </a:rPr>
              <a:t> el </a:t>
            </a:r>
            <a:r>
              <a:rPr sz="1100" b="1" i="1" dirty="0" err="1">
                <a:solidFill>
                  <a:srgbClr val="FFFFFF"/>
                </a:solidFill>
                <a:latin typeface="Calibri"/>
              </a:rPr>
              <a:t>efecto</a:t>
            </a:r>
            <a:r>
              <a:rPr sz="1100" b="1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i="1" dirty="0" err="1">
                <a:solidFill>
                  <a:srgbClr val="FFFFFF"/>
                </a:solidFill>
                <a:latin typeface="Calibri"/>
              </a:rPr>
              <a:t>puro</a:t>
            </a:r>
            <a:r>
              <a:rPr sz="1100" b="1" i="1" dirty="0">
                <a:solidFill>
                  <a:srgbClr val="FFFFFF"/>
                </a:solidFill>
                <a:latin typeface="Calibri"/>
              </a:rPr>
              <a:t> del </a:t>
            </a:r>
            <a:r>
              <a:rPr sz="1100" b="1" i="1" dirty="0" err="1">
                <a:solidFill>
                  <a:srgbClr val="FFFFFF"/>
                </a:solidFill>
                <a:latin typeface="Calibri"/>
              </a:rPr>
              <a:t>departamento</a:t>
            </a:r>
            <a:r>
              <a:rPr sz="1100" b="1" i="1" dirty="0">
                <a:solidFill>
                  <a:srgbClr val="FFFFFF"/>
                </a:solidFill>
                <a:latin typeface="Calibri"/>
              </a:rPr>
              <a:t>, </a:t>
            </a:r>
            <a:r>
              <a:rPr sz="1100" b="1" i="1" dirty="0" err="1">
                <a:solidFill>
                  <a:srgbClr val="FFFFFF"/>
                </a:solidFill>
                <a:latin typeface="Calibri"/>
              </a:rPr>
              <a:t>controlando</a:t>
            </a:r>
            <a:r>
              <a:rPr sz="1100" b="1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i="1" dirty="0" err="1">
                <a:solidFill>
                  <a:srgbClr val="FFFFFF"/>
                </a:solidFill>
                <a:latin typeface="Calibri"/>
              </a:rPr>
              <a:t>experiencia</a:t>
            </a:r>
            <a:r>
              <a:rPr sz="1100" b="1" i="1" dirty="0">
                <a:solidFill>
                  <a:srgbClr val="FFFFFF"/>
                </a:solidFill>
                <a:latin typeface="Calibri"/>
              </a:rPr>
              <a:t> y cargo.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Proyecto 01 — Analitica de RRHH  ·  EDA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55B6E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03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 dirty="0" err="1">
                <a:solidFill>
                  <a:srgbClr val="21295C"/>
                </a:solidFill>
                <a:latin typeface="Calibri"/>
              </a:rPr>
              <a:t>Correlaciones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21295C"/>
                </a:solidFill>
                <a:latin typeface="Calibri"/>
              </a:rPr>
              <a:t>entre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 variables </a:t>
            </a:r>
            <a:r>
              <a:rPr lang="es-419" sz="2800" b="1" i="0" dirty="0">
                <a:solidFill>
                  <a:srgbClr val="21295C"/>
                </a:solidFill>
                <a:latin typeface="Calibri"/>
              </a:rPr>
              <a:t>numéricas</a:t>
            </a:r>
            <a:endParaRPr sz="2800" b="1" i="0" dirty="0">
              <a:solidFill>
                <a:srgbClr val="21295C"/>
              </a:solidFill>
              <a:latin typeface="Calibri"/>
            </a:endParaRPr>
          </a:p>
        </p:txBody>
      </p:sp>
      <p:pic>
        <p:nvPicPr>
          <p:cNvPr id="4" name="Picture 3" descr="fig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59436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554480"/>
            <a:ext cx="4480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Hallazgos clave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0"/>
            <a:ext cx="4480560" cy="868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2011680"/>
            <a:ext cx="109728" cy="8686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205740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Salary ↔ Years_Experience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304288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Calibri"/>
              </a:rPr>
              <a:t>r = 0,56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560320"/>
            <a:ext cx="41148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 dirty="0" err="1">
                <a:solidFill>
                  <a:srgbClr val="555B6E"/>
                </a:solidFill>
                <a:latin typeface="Calibri"/>
              </a:rPr>
              <a:t>asociaci</a:t>
            </a:r>
            <a:r>
              <a:rPr lang="es-419" sz="1000" b="0" i="1" dirty="0">
                <a:solidFill>
                  <a:srgbClr val="555B6E"/>
                </a:solidFill>
                <a:latin typeface="Calibri"/>
              </a:rPr>
              <a:t>ó</a:t>
            </a:r>
            <a:r>
              <a:rPr sz="1000" b="0" i="1" dirty="0">
                <a:solidFill>
                  <a:srgbClr val="555B6E"/>
                </a:solidFill>
                <a:latin typeface="Calibri"/>
              </a:rPr>
              <a:t>n </a:t>
            </a:r>
            <a:r>
              <a:rPr sz="1000" b="0" i="1" dirty="0" err="1">
                <a:solidFill>
                  <a:srgbClr val="555B6E"/>
                </a:solidFill>
                <a:latin typeface="Calibri"/>
              </a:rPr>
              <a:t>fuerte</a:t>
            </a:r>
            <a:r>
              <a:rPr sz="1000" b="0" i="1" dirty="0">
                <a:solidFill>
                  <a:srgbClr val="555B6E"/>
                </a:solidFill>
                <a:latin typeface="Calibri"/>
              </a:rPr>
              <a:t> y </a:t>
            </a:r>
            <a:r>
              <a:rPr sz="1000" b="0" i="1" dirty="0" err="1">
                <a:solidFill>
                  <a:srgbClr val="555B6E"/>
                </a:solidFill>
                <a:latin typeface="Calibri"/>
              </a:rPr>
              <a:t>positiva</a:t>
            </a:r>
            <a:endParaRPr sz="1000" b="0" i="1" dirty="0">
              <a:solidFill>
                <a:srgbClr val="555B6E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0" y="2971800"/>
            <a:ext cx="4480560" cy="868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0" y="2971800"/>
            <a:ext cx="109728" cy="8686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301752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Salary ↔ 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264408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r ≈ 0,4-0,5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52044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  <a:latin typeface="Calibri"/>
              </a:rPr>
              <a:t>edad correlaciona, pero menos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931920"/>
            <a:ext cx="4480560" cy="868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0" y="3931920"/>
            <a:ext cx="109728" cy="868680"/>
          </a:xfrm>
          <a:prstGeom prst="rect">
            <a:avLst/>
          </a:prstGeom>
          <a:solidFill>
            <a:srgbClr val="B0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397764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Age ↔ Years_Experience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224528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B0321F"/>
                </a:solidFill>
                <a:latin typeface="Calibri"/>
              </a:rPr>
              <a:t>r 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48056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  <a:latin typeface="Calibri"/>
              </a:rPr>
              <a:t>ALERTA: posible colinealidad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892040"/>
            <a:ext cx="4480560" cy="868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0" y="4892040"/>
            <a:ext cx="109728" cy="868680"/>
          </a:xfrm>
          <a:prstGeom prst="rect">
            <a:avLst/>
          </a:prstGeom>
          <a:solidFill>
            <a:srgbClr val="555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43800" y="493776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Salary ↔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5184648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555B6E"/>
                </a:solidFill>
                <a:latin typeface="Calibri"/>
              </a:rPr>
              <a:t>r baja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5440680"/>
            <a:ext cx="41148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 dirty="0">
                <a:solidFill>
                  <a:srgbClr val="555B6E"/>
                </a:solidFill>
                <a:latin typeface="Calibri"/>
              </a:rPr>
              <a:t>el </a:t>
            </a:r>
            <a:r>
              <a:rPr sz="1000" b="0" i="1" dirty="0" err="1">
                <a:solidFill>
                  <a:srgbClr val="555B6E"/>
                </a:solidFill>
                <a:latin typeface="Calibri"/>
              </a:rPr>
              <a:t>desempe</a:t>
            </a:r>
            <a:r>
              <a:rPr lang="es-419" sz="1000" b="0" i="1" dirty="0">
                <a:solidFill>
                  <a:srgbClr val="555B6E"/>
                </a:solidFill>
                <a:latin typeface="Calibri"/>
              </a:rPr>
              <a:t>ñ</a:t>
            </a:r>
            <a:r>
              <a:rPr sz="1000" b="0" i="1" dirty="0">
                <a:solidFill>
                  <a:srgbClr val="555B6E"/>
                </a:solidFill>
                <a:latin typeface="Calibri"/>
              </a:rPr>
              <a:t>o </a:t>
            </a:r>
            <a:r>
              <a:rPr sz="1000" b="0" i="1" dirty="0" err="1">
                <a:solidFill>
                  <a:srgbClr val="555B6E"/>
                </a:solidFill>
                <a:latin typeface="Calibri"/>
              </a:rPr>
              <a:t>aporta</a:t>
            </a:r>
            <a:r>
              <a:rPr sz="1000" b="0" i="1" dirty="0">
                <a:solidFill>
                  <a:srgbClr val="555B6E"/>
                </a:solidFill>
                <a:latin typeface="Calibri"/>
              </a:rPr>
              <a:t> poco </a:t>
            </a:r>
            <a:r>
              <a:rPr sz="1000" b="0" i="1" dirty="0" err="1">
                <a:solidFill>
                  <a:srgbClr val="555B6E"/>
                </a:solidFill>
                <a:latin typeface="Calibri"/>
              </a:rPr>
              <a:t>linealmente</a:t>
            </a:r>
            <a:endParaRPr sz="1000" b="0" i="1" dirty="0">
              <a:solidFill>
                <a:srgbClr val="555B6E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Proyecto 01 — Analitica de RRHH  ·  EDA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55B6E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04 · HIPOTESIS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 dirty="0" err="1">
                <a:solidFill>
                  <a:srgbClr val="21295C"/>
                </a:solidFill>
                <a:latin typeface="Calibri"/>
              </a:rPr>
              <a:t>Validamos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21295C"/>
                </a:solidFill>
                <a:latin typeface="Calibri"/>
              </a:rPr>
              <a:t>formalmente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 con </a:t>
            </a:r>
            <a:r>
              <a:rPr lang="es-419" sz="2800" b="1" i="0" dirty="0">
                <a:solidFill>
                  <a:srgbClr val="21295C"/>
                </a:solidFill>
                <a:latin typeface="Calibri"/>
              </a:rPr>
              <a:t>estadística</a:t>
            </a:r>
            <a:endParaRPr sz="28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12064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1300" b="1" i="0" dirty="0">
                <a:solidFill>
                  <a:srgbClr val="E28E2F"/>
                </a:solidFill>
                <a:latin typeface="Calibri"/>
              </a:rPr>
              <a:t>Hipótesis </a:t>
            </a:r>
            <a:r>
              <a:rPr sz="1300" b="1" i="0" dirty="0">
                <a:solidFill>
                  <a:srgbClr val="E28E2F"/>
                </a:solidFill>
                <a:latin typeface="Calibri"/>
              </a:rPr>
              <a:t>1 — </a:t>
            </a:r>
            <a:r>
              <a:rPr sz="1300" b="1" i="0" dirty="0" err="1">
                <a:solidFill>
                  <a:srgbClr val="E28E2F"/>
                </a:solidFill>
                <a:latin typeface="Calibri"/>
              </a:rPr>
              <a:t>Experiencia</a:t>
            </a:r>
            <a:r>
              <a:rPr sz="1300" b="1" i="0" dirty="0">
                <a:solidFill>
                  <a:srgbClr val="E28E2F"/>
                </a:solidFill>
                <a:latin typeface="Calibri"/>
              </a:rPr>
              <a:t> vs </a:t>
            </a:r>
            <a:r>
              <a:rPr sz="1300" b="1" i="0" dirty="0" err="1">
                <a:solidFill>
                  <a:srgbClr val="E28E2F"/>
                </a:solidFill>
                <a:latin typeface="Calibri"/>
              </a:rPr>
              <a:t>Salario</a:t>
            </a:r>
            <a:endParaRPr sz="1300" b="1" i="0" dirty="0">
              <a:solidFill>
                <a:srgbClr val="E28E2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12064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H0: no hay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relaci</a:t>
            </a:r>
            <a:r>
              <a:rPr lang="es-419" sz="1200" b="0" i="0" dirty="0">
                <a:solidFill>
                  <a:srgbClr val="FFFFFF"/>
                </a:solidFill>
                <a:latin typeface="Calibri"/>
              </a:rPr>
              <a:t>ón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lineal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120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H1: experiencia se asocia + con salario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5120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Pearson r = 0,564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E28E2F"/>
                </a:solidFill>
                <a:latin typeface="Calibri"/>
              </a:rPr>
              <a:t>p-valor ≈ 0  →  RECHAZAMOS H0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212080" cy="237744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484632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1300" b="1" i="0" dirty="0">
                <a:solidFill>
                  <a:srgbClr val="E28E2F"/>
                </a:solidFill>
                <a:latin typeface="Calibri"/>
              </a:rPr>
              <a:t>Hipótesis </a:t>
            </a:r>
            <a:r>
              <a:rPr sz="1300" b="1" i="0" dirty="0">
                <a:solidFill>
                  <a:srgbClr val="E28E2F"/>
                </a:solidFill>
                <a:latin typeface="Calibri"/>
              </a:rPr>
              <a:t>2 (bonus) — Junior vs Senior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8463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H0: medias salariales iguales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8463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H1: medias salariales distintas (t-test Welch)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71800"/>
            <a:ext cx="48463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Diferencia = US$ 52.139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74720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E28E2F"/>
                </a:solidFill>
                <a:latin typeface="Calibri"/>
              </a:rPr>
              <a:t>p-valor ≈ 0  →  RECHAZAMOS H0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Lectura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11064240" cy="103720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21295C"/>
                </a:solidFill>
                <a:latin typeface="Calibri"/>
              </a:rPr>
              <a:t>Las dos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intuiciones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del area de RRHH se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confirman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con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datos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:</a:t>
            </a:r>
          </a:p>
          <a:p>
            <a:pPr algn="l"/>
            <a:r>
              <a:rPr sz="1300" b="0" i="0" dirty="0">
                <a:solidFill>
                  <a:srgbClr val="21295C"/>
                </a:solidFill>
                <a:latin typeface="Calibri"/>
              </a:rPr>
              <a:t>  ·  La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experiencia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tiene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un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efecto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positivo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fuerte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y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estadisticamente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real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sobre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el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salario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.</a:t>
            </a:r>
          </a:p>
          <a:p>
            <a:pPr algn="l"/>
            <a:r>
              <a:rPr sz="1300" b="0" i="0" dirty="0">
                <a:solidFill>
                  <a:srgbClr val="21295C"/>
                </a:solidFill>
                <a:latin typeface="Calibri"/>
              </a:rPr>
              <a:t>  ·  Los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niveles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de cargo (Junior, Mid, Senior) son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tramos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salariales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reales, no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etiquetas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lang="es-419" sz="1300" b="0" i="0" dirty="0">
                <a:solidFill>
                  <a:srgbClr val="21295C"/>
                </a:solidFill>
                <a:latin typeface="Calibri"/>
              </a:rPr>
              <a:t>cosméticas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.</a:t>
            </a:r>
          </a:p>
          <a:p>
            <a:pPr algn="l"/>
            <a:endParaRPr sz="1300" b="0" i="0" dirty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300" b="0" i="0" dirty="0" err="1">
                <a:solidFill>
                  <a:srgbClr val="21295C"/>
                </a:solidFill>
                <a:latin typeface="Calibri"/>
              </a:rPr>
              <a:t>Esto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justifica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incluir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ambas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variables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como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predictores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principales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 del </a:t>
            </a:r>
            <a:r>
              <a:rPr sz="1300" b="0" i="0" dirty="0" err="1">
                <a:solidFill>
                  <a:srgbClr val="21295C"/>
                </a:solidFill>
                <a:latin typeface="Calibri"/>
              </a:rPr>
              <a:t>modelo</a:t>
            </a:r>
            <a:r>
              <a:rPr sz="1300" b="0" i="0" dirty="0">
                <a:solidFill>
                  <a:srgbClr val="21295C"/>
                </a:solidFill>
                <a:latin typeface="Calibr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Proyecto 01 — Analitica de RRHH  ·  Hipotesis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55B6E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05 ·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libri"/>
              </a:rPr>
              <a:t>Como armamos la regresion lineal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2307" y="169164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38147" y="1874519"/>
            <a:ext cx="548640" cy="548640"/>
          </a:xfrm>
          <a:prstGeom prst="ellipse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38147" y="1965960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307" y="2606040"/>
            <a:ext cx="256032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 dirty="0" err="1">
                <a:solidFill>
                  <a:srgbClr val="FFFFFF"/>
                </a:solidFill>
                <a:latin typeface="Calibri"/>
              </a:rPr>
              <a:t>Codificar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400" b="1" i="0" dirty="0" err="1">
                <a:solidFill>
                  <a:srgbClr val="FFFFFF"/>
                </a:solidFill>
                <a:latin typeface="Calibri"/>
              </a:rPr>
              <a:t>categ</a:t>
            </a:r>
            <a:r>
              <a:rPr lang="es-419" sz="1400" b="1" i="0" dirty="0">
                <a:solidFill>
                  <a:srgbClr val="FFFFFF"/>
                </a:solidFill>
                <a:latin typeface="Calibri"/>
              </a:rPr>
              <a:t>ó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ricas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2307" y="3291840"/>
            <a:ext cx="256032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Label encoding</a:t>
            </a:r>
          </a:p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(Job_Level)</a:t>
            </a:r>
          </a:p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One-Hot encoding</a:t>
            </a:r>
          </a:p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(resto)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6907" y="2834640"/>
            <a:ext cx="3200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i="0">
                <a:solidFill>
                  <a:srgbClr val="E28E2F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1227" y="169164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27067" y="1874519"/>
            <a:ext cx="548640" cy="548640"/>
          </a:xfrm>
          <a:prstGeom prst="ellipse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27067" y="1965960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1227" y="2606040"/>
            <a:ext cx="25603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Dividir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3291840"/>
            <a:ext cx="256032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80% entrenamiento</a:t>
            </a:r>
          </a:p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20% prueba</a:t>
            </a:r>
          </a:p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random_state = 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5827" y="2834640"/>
            <a:ext cx="3200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i="0">
                <a:solidFill>
                  <a:srgbClr val="E28E2F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69164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215987" y="1874519"/>
            <a:ext cx="548640" cy="548640"/>
          </a:xfrm>
          <a:prstGeom prst="ellipse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15987" y="1965960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0147" y="2606040"/>
            <a:ext cx="25603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Ajustar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147" y="3291840"/>
            <a:ext cx="256032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statsmodels</a:t>
            </a:r>
          </a:p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(p-valores)</a:t>
            </a:r>
          </a:p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sklearn</a:t>
            </a:r>
          </a:p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(predicciones)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4747" y="2834640"/>
            <a:ext cx="3200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i="0">
                <a:solidFill>
                  <a:srgbClr val="E28E2F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9067" y="169164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004907" y="1874519"/>
            <a:ext cx="548640" cy="548640"/>
          </a:xfrm>
          <a:prstGeom prst="ellipse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04907" y="1965960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9067" y="2606040"/>
            <a:ext cx="25603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Evaluar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9067" y="3291840"/>
            <a:ext cx="256032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MAE · MAPE</a:t>
            </a:r>
          </a:p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RMSE · R²</a:t>
            </a:r>
          </a:p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R² ajustado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Decisiones clave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  ·  Job_Level → label encoding porque tiene orden natural (Junior &lt; Mid &lt; Senior).</a:t>
            </a:r>
          </a:p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  ·  Drop_first=True para evitar la trampa de variables ficticias (multicolinealidad perfecta).</a:t>
            </a:r>
          </a:p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  ·  OLS y sklearn dan coeficientes identicos: usamos OLS para inferencia y sklearn para metricas.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Proyecto 01 — Analitica de RRHH  ·  Modelo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55B6E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05 ·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2800" b="1" i="0" dirty="0">
                <a:solidFill>
                  <a:srgbClr val="21295C"/>
                </a:solidFill>
                <a:latin typeface="Calibri"/>
              </a:rPr>
              <a:t>¿Cuánto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 vale cada factor (en US$/a</a:t>
            </a:r>
            <a:r>
              <a:rPr lang="es-419" sz="2800" b="1" i="0" dirty="0">
                <a:solidFill>
                  <a:srgbClr val="21295C"/>
                </a:solidFill>
                <a:latin typeface="Calibri"/>
              </a:rPr>
              <a:t>ñ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o)</a:t>
            </a:r>
            <a:r>
              <a:rPr lang="es-419" sz="2800" b="1" dirty="0">
                <a:solidFill>
                  <a:srgbClr val="21295C"/>
                </a:solidFill>
                <a:latin typeface="Calibri"/>
              </a:rPr>
              <a:t>?</a:t>
            </a:r>
            <a:endParaRPr sz="28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+US$ 625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651760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0" dirty="0" err="1">
                <a:solidFill>
                  <a:srgbClr val="FFFFFF"/>
                </a:solidFill>
                <a:latin typeface="Calibri"/>
              </a:rPr>
              <a:t>por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 cada </a:t>
            </a:r>
            <a:r>
              <a:rPr lang="es-419" sz="1100" b="0" i="0" dirty="0">
                <a:solidFill>
                  <a:srgbClr val="FFFFFF"/>
                </a:solidFill>
                <a:latin typeface="Calibri"/>
              </a:rPr>
              <a:t>año</a:t>
            </a:r>
            <a:endParaRPr sz="1100" b="0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100" b="0" i="0" dirty="0">
                <a:solidFill>
                  <a:srgbClr val="FFFFFF"/>
                </a:solidFill>
                <a:latin typeface="Calibri"/>
              </a:rPr>
              <a:t>de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experiencia</a:t>
            </a:r>
            <a:endParaRPr sz="11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383280" y="15087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1691640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+US$ 20.910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651760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0" dirty="0" err="1">
                <a:solidFill>
                  <a:srgbClr val="FFFFFF"/>
                </a:solidFill>
                <a:latin typeface="Calibri"/>
              </a:rPr>
              <a:t>por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subir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 un </a:t>
            </a:r>
            <a:r>
              <a:rPr lang="es-419" sz="1100" b="0" i="0" dirty="0">
                <a:solidFill>
                  <a:srgbClr val="FFFFFF"/>
                </a:solidFill>
                <a:latin typeface="Calibri"/>
              </a:rPr>
              <a:t>escalón</a:t>
            </a:r>
            <a:endParaRPr sz="1100" b="0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100" b="0" i="0" dirty="0">
                <a:solidFill>
                  <a:srgbClr val="FFFFFF"/>
                </a:solidFill>
                <a:latin typeface="Calibri"/>
              </a:rPr>
              <a:t>de cargo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+US$ 16.182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77440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tener PhD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(vs Bachelor)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5087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691640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+US$ 7.165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377440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tener Master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(vs Bachelor)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1097280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 dirty="0" err="1">
                <a:solidFill>
                  <a:srgbClr val="065A82"/>
                </a:solidFill>
                <a:latin typeface="Calibri"/>
              </a:rPr>
              <a:t>Diferenciales</a:t>
            </a:r>
            <a:r>
              <a:rPr sz="13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065A82"/>
                </a:solidFill>
                <a:latin typeface="Calibri"/>
              </a:rPr>
              <a:t>por</a:t>
            </a:r>
            <a:r>
              <a:rPr sz="13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065A82"/>
                </a:solidFill>
                <a:latin typeface="Calibri"/>
              </a:rPr>
              <a:t>departamento</a:t>
            </a:r>
            <a:r>
              <a:rPr sz="1300" b="1" i="0" dirty="0">
                <a:solidFill>
                  <a:srgbClr val="065A82"/>
                </a:solidFill>
                <a:latin typeface="Calibri"/>
              </a:rPr>
              <a:t> (vs </a:t>
            </a:r>
            <a:r>
              <a:rPr lang="es-419" sz="1300" b="1" i="0" dirty="0">
                <a:solidFill>
                  <a:srgbClr val="065A82"/>
                </a:solidFill>
                <a:latin typeface="Calibri"/>
              </a:rPr>
              <a:t>Ingeniería</a:t>
            </a:r>
            <a:r>
              <a:rPr sz="1300" b="1" i="0" dirty="0">
                <a:solidFill>
                  <a:srgbClr val="065A82"/>
                </a:solidFill>
                <a:latin typeface="Calibri"/>
              </a:rPr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265176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749039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21295C"/>
                </a:solidFill>
                <a:latin typeface="Calibri"/>
              </a:rPr>
              <a:t>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749039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400" b="1" i="0">
                <a:solidFill>
                  <a:srgbClr val="B0321F"/>
                </a:solidFill>
                <a:latin typeface="Calibri"/>
              </a:rPr>
              <a:t>US$ -18.870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3703320"/>
            <a:ext cx="265176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0" y="3749039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749039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400" b="1" i="0">
                <a:solidFill>
                  <a:srgbClr val="B0321F"/>
                </a:solidFill>
                <a:latin typeface="Calibri"/>
              </a:rPr>
              <a:t>US$ -16.707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79" y="3703320"/>
            <a:ext cx="265176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3749039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3749039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400" b="1" i="0">
                <a:solidFill>
                  <a:srgbClr val="B0321F"/>
                </a:solidFill>
                <a:latin typeface="Calibri"/>
              </a:rPr>
              <a:t>US$ -13.884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399" y="3703320"/>
            <a:ext cx="265176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59" y="3749039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799" y="3749039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400" b="1" i="0">
                <a:solidFill>
                  <a:srgbClr val="B0321F"/>
                </a:solidFill>
                <a:latin typeface="Calibri"/>
              </a:rPr>
              <a:t>US$ -4.323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43400"/>
            <a:ext cx="1097280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 dirty="0" err="1">
                <a:solidFill>
                  <a:srgbClr val="065A82"/>
                </a:solidFill>
                <a:latin typeface="Calibri"/>
              </a:rPr>
              <a:t>Diferenciales</a:t>
            </a:r>
            <a:r>
              <a:rPr sz="13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065A82"/>
                </a:solidFill>
                <a:latin typeface="Calibri"/>
              </a:rPr>
              <a:t>por</a:t>
            </a:r>
            <a:r>
              <a:rPr sz="13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lang="es-419" sz="1300" b="1" i="0" dirty="0">
                <a:solidFill>
                  <a:srgbClr val="065A82"/>
                </a:solidFill>
                <a:latin typeface="Calibri"/>
              </a:rPr>
              <a:t>región</a:t>
            </a:r>
            <a:r>
              <a:rPr sz="1300" b="1" i="0" dirty="0">
                <a:solidFill>
                  <a:srgbClr val="065A82"/>
                </a:solidFill>
                <a:latin typeface="Calibri"/>
              </a:rPr>
              <a:t> (vs Este) y </a:t>
            </a:r>
            <a:r>
              <a:rPr lang="es-419" sz="1300" b="1" i="0" dirty="0">
                <a:solidFill>
                  <a:srgbClr val="065A82"/>
                </a:solidFill>
                <a:latin typeface="Calibri"/>
              </a:rPr>
              <a:t>género</a:t>
            </a:r>
            <a:endParaRPr sz="1300" b="1" i="0" dirty="0">
              <a:solidFill>
                <a:srgbClr val="065A82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754880"/>
            <a:ext cx="265176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4800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Norte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19" y="4800600"/>
            <a:ext cx="1463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400" b="1" i="0">
                <a:solidFill>
                  <a:srgbClr val="2E8B57"/>
                </a:solidFill>
                <a:latin typeface="Calibri"/>
              </a:rPr>
              <a:t>US$ +2.688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37560" y="4754880"/>
            <a:ext cx="265176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74720" y="4800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Sur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800600"/>
            <a:ext cx="1463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400" b="1" i="0">
                <a:solidFill>
                  <a:srgbClr val="B0321F"/>
                </a:solidFill>
                <a:latin typeface="Calibri"/>
              </a:rPr>
              <a:t>US$ -2.359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79" y="4754880"/>
            <a:ext cx="265176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48006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Oeste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59" y="4800600"/>
            <a:ext cx="1463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400" b="1" i="0">
                <a:solidFill>
                  <a:srgbClr val="555B6E"/>
                </a:solidFill>
                <a:latin typeface="Calibri"/>
              </a:rPr>
              <a:t>US$ +1.079 (n.s.)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15399" y="4754880"/>
            <a:ext cx="265176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52559" y="4800600"/>
            <a:ext cx="15544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1200" b="1" i="0" dirty="0">
                <a:solidFill>
                  <a:srgbClr val="21295C"/>
                </a:solidFill>
                <a:latin typeface="Calibri"/>
              </a:rPr>
              <a:t>Género</a:t>
            </a:r>
            <a:r>
              <a:rPr sz="1200" b="1" i="0" dirty="0">
                <a:solidFill>
                  <a:srgbClr val="21295C"/>
                </a:solidFill>
                <a:latin typeface="Calibri"/>
              </a:rPr>
              <a:t> 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79" y="4800600"/>
            <a:ext cx="1463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400" b="1" i="0">
                <a:solidFill>
                  <a:srgbClr val="E28E2F"/>
                </a:solidFill>
                <a:latin typeface="Calibri"/>
              </a:rPr>
              <a:t>US$ +1.772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5577840"/>
            <a:ext cx="1069848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1100" b="1" i="0" dirty="0">
                <a:solidFill>
                  <a:srgbClr val="E28E2F"/>
                </a:solidFill>
                <a:latin typeface="Calibri"/>
              </a:rPr>
              <a:t>Interpretación</a:t>
            </a:r>
            <a:endParaRPr sz="1100" b="1" i="0" dirty="0">
              <a:solidFill>
                <a:srgbClr val="E28E2F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31520" y="5806440"/>
            <a:ext cx="1069848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Cargo y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experiencia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son los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motores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.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Educaci</a:t>
            </a:r>
            <a:r>
              <a:rPr lang="es-419" sz="1300" b="0" i="0" dirty="0">
                <a:solidFill>
                  <a:srgbClr val="FFFFFF"/>
                </a:solidFill>
                <a:latin typeface="Calibri"/>
              </a:rPr>
              <a:t>ón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suma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. Departamento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explica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brechas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grandes.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Regi</a:t>
            </a:r>
            <a:r>
              <a:rPr lang="es-419" sz="1300" dirty="0">
                <a:solidFill>
                  <a:srgbClr val="FFFFFF"/>
                </a:solidFill>
                <a:latin typeface="Calibri"/>
              </a:rPr>
              <a:t>ó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n y </a:t>
            </a:r>
            <a:r>
              <a:rPr lang="es-419" sz="1300" b="0" i="0" dirty="0">
                <a:solidFill>
                  <a:srgbClr val="FFFFFF"/>
                </a:solidFill>
                <a:latin typeface="Calibri"/>
              </a:rPr>
              <a:t>género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son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menores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Proyecto 01 — Analitica de RRHH  ·  Modelo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55B6E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05 ·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2800" b="1" dirty="0">
                <a:solidFill>
                  <a:srgbClr val="21295C"/>
                </a:solidFill>
                <a:latin typeface="Calibri"/>
              </a:rPr>
              <a:t>¿</a:t>
            </a:r>
            <a:r>
              <a:rPr lang="es-419" sz="2800" b="1" i="0" dirty="0">
                <a:solidFill>
                  <a:srgbClr val="21295C"/>
                </a:solidFill>
                <a:latin typeface="Calibri"/>
              </a:rPr>
              <a:t>Qué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 tan bien </a:t>
            </a:r>
            <a:r>
              <a:rPr sz="2800" b="1" i="0" dirty="0" err="1">
                <a:solidFill>
                  <a:srgbClr val="21295C"/>
                </a:solidFill>
                <a:latin typeface="Calibri"/>
              </a:rPr>
              <a:t>predice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85800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1600" b="1" i="0" dirty="0">
                <a:solidFill>
                  <a:srgbClr val="065A82"/>
                </a:solidFill>
                <a:latin typeface="Calibri"/>
              </a:rPr>
              <a:t>Métricas</a:t>
            </a:r>
            <a:r>
              <a:rPr sz="1600" b="1" i="0" dirty="0">
                <a:solidFill>
                  <a:srgbClr val="065A82"/>
                </a:solidFill>
                <a:latin typeface="Calibri"/>
              </a:rPr>
              <a:t> en </a:t>
            </a:r>
            <a:r>
              <a:rPr sz="1600" b="1" i="0" dirty="0" err="1">
                <a:solidFill>
                  <a:srgbClr val="065A82"/>
                </a:solidFill>
                <a:latin typeface="Calibri"/>
              </a:rPr>
              <a:t>entrenamiento</a:t>
            </a:r>
            <a:r>
              <a:rPr sz="1600" b="1" i="0" dirty="0">
                <a:solidFill>
                  <a:srgbClr val="065A82"/>
                </a:solidFill>
                <a:latin typeface="Calibri"/>
              </a:rPr>
              <a:t> y </a:t>
            </a:r>
            <a:r>
              <a:rPr sz="1600" b="1" i="0" dirty="0" err="1">
                <a:solidFill>
                  <a:srgbClr val="065A82"/>
                </a:solidFill>
                <a:latin typeface="Calibri"/>
              </a:rPr>
              <a:t>prueba</a:t>
            </a:r>
            <a:endParaRPr sz="1600" b="1" i="0" dirty="0">
              <a:solidFill>
                <a:srgbClr val="065A82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68580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3716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1200" b="1" i="0" dirty="0">
                <a:solidFill>
                  <a:srgbClr val="FFFFFF"/>
                </a:solidFill>
                <a:latin typeface="Calibri"/>
              </a:rPr>
              <a:t>Métrica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03120" y="205740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05740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057400"/>
            <a:ext cx="210312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1200" b="1" i="0" dirty="0">
                <a:solidFill>
                  <a:srgbClr val="FFFFFF"/>
                </a:solidFill>
                <a:latin typeface="Calibri"/>
              </a:rPr>
              <a:t>Descripción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685800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450592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450592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US$ 6.814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50592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US$ 8.364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450592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  <a:latin typeface="Calibri"/>
              </a:rPr>
              <a:t>Error absoluto 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346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MAPE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83464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11,5 %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83464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15,2 %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834640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  <a:latin typeface="Calibri"/>
              </a:rPr>
              <a:t>Error porcentual medio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45536"/>
            <a:ext cx="685800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218688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RMSE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218688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US$ 19.417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218688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US$ 27.315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218688"/>
            <a:ext cx="210312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1000" b="0" i="1" dirty="0">
                <a:solidFill>
                  <a:srgbClr val="555B6E"/>
                </a:solidFill>
                <a:latin typeface="Calibri"/>
              </a:rPr>
              <a:t>Raíz</a:t>
            </a:r>
            <a:r>
              <a:rPr sz="1000" b="0" i="1" dirty="0">
                <a:solidFill>
                  <a:srgbClr val="555B6E"/>
                </a:solidFill>
                <a:latin typeface="Calibri"/>
              </a:rPr>
              <a:t> error </a:t>
            </a:r>
            <a:r>
              <a:rPr lang="es-419" sz="1000" b="0" i="1" dirty="0">
                <a:solidFill>
                  <a:srgbClr val="555B6E"/>
                </a:solidFill>
                <a:latin typeface="Calibri"/>
              </a:rPr>
              <a:t>cuadrático</a:t>
            </a:r>
            <a:endParaRPr sz="1000" b="0" i="1" dirty="0">
              <a:solidFill>
                <a:srgbClr val="555B6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3602736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R²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602736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0,563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602736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0,400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602736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  <a:latin typeface="Calibri"/>
              </a:rPr>
              <a:t>Varianza explicada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13632"/>
            <a:ext cx="685800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3986784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R² ajust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3986784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0,562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986784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0,396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986784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555B6E"/>
                </a:solidFill>
                <a:latin typeface="Calibri"/>
              </a:rPr>
              <a:t>Penaliza num. predictores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1554480"/>
            <a:ext cx="39319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1400" b="1" i="0" dirty="0">
                <a:solidFill>
                  <a:srgbClr val="065A82"/>
                </a:solidFill>
                <a:latin typeface="Calibri"/>
              </a:rPr>
              <a:t>¿Cómo</a:t>
            </a:r>
            <a:r>
              <a:rPr sz="1400" b="1" i="0" dirty="0">
                <a:solidFill>
                  <a:srgbClr val="065A82"/>
                </a:solidFill>
                <a:latin typeface="Calibri"/>
              </a:rPr>
              <a:t> leer </a:t>
            </a:r>
            <a:r>
              <a:rPr sz="1400" b="1" i="0" dirty="0" err="1">
                <a:solidFill>
                  <a:srgbClr val="065A82"/>
                </a:solidFill>
                <a:latin typeface="Calibri"/>
              </a:rPr>
              <a:t>estas</a:t>
            </a:r>
            <a:r>
              <a:rPr sz="14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lang="es-419" sz="1400" b="1" i="0" dirty="0">
                <a:solidFill>
                  <a:srgbClr val="065A82"/>
                </a:solidFill>
                <a:latin typeface="Calibri"/>
              </a:rPr>
              <a:t>métricas?</a:t>
            </a:r>
            <a:endParaRPr sz="1400" b="1" i="0" dirty="0">
              <a:solidFill>
                <a:srgbClr val="065A82"/>
              </a:solidFill>
              <a:latin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772400" y="1965960"/>
            <a:ext cx="3931920" cy="14630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09560" y="2057400"/>
            <a:ext cx="36576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El modelo explica el 56% de la varianza en train y 40% en test.</a:t>
            </a:r>
          </a:p>
          <a:p>
            <a:pPr algn="l"/>
            <a:endParaRPr sz="12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Predice el salario con un error tipico de US$ 8K en datos nuevos.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3566160"/>
            <a:ext cx="3931920" cy="1463040"/>
          </a:xfrm>
          <a:prstGeom prst="roundRect">
            <a:avLst>
              <a:gd name="adj" fmla="val 8000"/>
            </a:avLst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09560" y="3657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Sobreajuste moderado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3931920"/>
            <a:ext cx="36576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La caida R²: 0,56 → 0,40 indica que captura patrones del set de entrenamiento que no generalizan completamente.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516636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09560" y="5257800"/>
            <a:ext cx="36576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1200" b="1" i="0" dirty="0">
                <a:solidFill>
                  <a:srgbClr val="E28E2F"/>
                </a:solidFill>
                <a:latin typeface="Calibri"/>
              </a:rPr>
              <a:t>¿Qué</a:t>
            </a:r>
            <a:r>
              <a:rPr sz="1200" b="1" i="0" dirty="0">
                <a:solidFill>
                  <a:srgbClr val="E28E2F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E28E2F"/>
                </a:solidFill>
                <a:latin typeface="Calibri"/>
              </a:rPr>
              <a:t>falta</a:t>
            </a:r>
            <a:r>
              <a:rPr sz="1200" b="1" i="0" dirty="0">
                <a:solidFill>
                  <a:srgbClr val="E28E2F"/>
                </a:solidFill>
                <a:latin typeface="Calibri"/>
              </a:rPr>
              <a:t>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5532120"/>
            <a:ext cx="3657600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El 44%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restante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incluye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: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negociaci</a:t>
            </a:r>
            <a:r>
              <a:rPr lang="es-419" sz="1100" b="0" i="0" dirty="0">
                <a:solidFill>
                  <a:srgbClr val="FFFFFF"/>
                </a:solidFill>
                <a:latin typeface="Calibri"/>
              </a:rPr>
              <a:t>ó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n,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ofertas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externas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antiguedad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 en la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empresa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sesgos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individuales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Proyecto 01 — Analitica de RRHH  ·  Modelo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55B6E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1C7293"/>
                </a:solidFill>
                <a:latin typeface="Calibri"/>
              </a:rPr>
              <a:t>06 · </a:t>
            </a:r>
            <a:r>
              <a:rPr sz="1200" b="1" i="0" dirty="0" err="1">
                <a:solidFill>
                  <a:srgbClr val="1C7293"/>
                </a:solidFill>
                <a:latin typeface="Calibri"/>
              </a:rPr>
              <a:t>DIAGNOSTICO</a:t>
            </a:r>
            <a:endParaRPr sz="1200" b="1" i="0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2800" b="1" dirty="0">
                <a:solidFill>
                  <a:srgbClr val="21295C"/>
                </a:solidFill>
                <a:latin typeface="Calibri"/>
              </a:rPr>
              <a:t>¿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El </a:t>
            </a:r>
            <a:r>
              <a:rPr sz="2800" b="1" i="0" dirty="0" err="1">
                <a:solidFill>
                  <a:srgbClr val="21295C"/>
                </a:solidFill>
                <a:latin typeface="Calibri"/>
              </a:rPr>
              <a:t>modelo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 es </a:t>
            </a:r>
            <a:r>
              <a:rPr sz="2800" b="1" i="0" dirty="0" err="1">
                <a:solidFill>
                  <a:srgbClr val="21295C"/>
                </a:solidFill>
                <a:latin typeface="Calibri"/>
              </a:rPr>
              <a:t>confiable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?</a:t>
            </a:r>
          </a:p>
        </p:txBody>
      </p:sp>
      <p:pic>
        <p:nvPicPr>
          <p:cNvPr id="4" name="Picture 3" descr="fig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67512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931920"/>
            <a:ext cx="6675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555B6E"/>
                </a:solidFill>
                <a:latin typeface="Calibri"/>
              </a:rPr>
              <a:t>Residuos: aproximadamente normales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554480"/>
            <a:ext cx="4297680" cy="118872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43800" y="164592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E28E2F"/>
                </a:solidFill>
                <a:latin typeface="Calibri"/>
              </a:rPr>
              <a:t>MULTICOLINEALIDAD (VIF)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92024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Age ↔ Years_Experience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240280"/>
            <a:ext cx="4114800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CADCFC"/>
                </a:solidFill>
                <a:latin typeface="Calibri"/>
              </a:rPr>
              <a:t>VIF </a:t>
            </a:r>
            <a:r>
              <a:rPr sz="1100" b="0" i="0" dirty="0" err="1">
                <a:solidFill>
                  <a:srgbClr val="CADCFC"/>
                </a:solidFill>
                <a:latin typeface="Calibri"/>
              </a:rPr>
              <a:t>elevado</a:t>
            </a:r>
            <a:r>
              <a:rPr sz="1100" b="0" i="0" dirty="0">
                <a:solidFill>
                  <a:srgbClr val="CADCFC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CADCFC"/>
                </a:solidFill>
                <a:latin typeface="Calibri"/>
              </a:rPr>
              <a:t>esperado</a:t>
            </a:r>
            <a:r>
              <a:rPr sz="1100" b="0" i="0" dirty="0">
                <a:solidFill>
                  <a:srgbClr val="CADCFC"/>
                </a:solidFill>
                <a:latin typeface="Calibri"/>
              </a:rPr>
              <a:t>.</a:t>
            </a:r>
          </a:p>
          <a:p>
            <a:pPr algn="l"/>
            <a:r>
              <a:rPr lang="es-419" sz="1100" b="0" i="0" dirty="0">
                <a:solidFill>
                  <a:srgbClr val="CADCFC"/>
                </a:solidFill>
                <a:latin typeface="Calibri"/>
              </a:rPr>
              <a:t>Decisión</a:t>
            </a:r>
            <a:r>
              <a:rPr sz="1100" b="0" i="0" dirty="0">
                <a:solidFill>
                  <a:srgbClr val="CADCFC"/>
                </a:solidFill>
                <a:latin typeface="Calibri"/>
              </a:rPr>
              <a:t>: </a:t>
            </a:r>
            <a:r>
              <a:rPr sz="1100" b="0" i="0" dirty="0" err="1">
                <a:solidFill>
                  <a:srgbClr val="CADCFC"/>
                </a:solidFill>
                <a:latin typeface="Calibri"/>
              </a:rPr>
              <a:t>mantener</a:t>
            </a:r>
            <a:r>
              <a:rPr sz="1100" b="0" i="0" dirty="0">
                <a:solidFill>
                  <a:srgbClr val="CADCF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ADCFC"/>
                </a:solidFill>
                <a:latin typeface="Calibri"/>
              </a:rPr>
              <a:t>ambas</a:t>
            </a:r>
            <a:r>
              <a:rPr sz="1100" b="0" i="0" dirty="0">
                <a:solidFill>
                  <a:srgbClr val="CADCFC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880360"/>
            <a:ext cx="4297680" cy="118872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297180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E28E2F"/>
                </a:solidFill>
                <a:latin typeface="Calibri"/>
              </a:rPr>
              <a:t>NORMALIDAD DE RESIDUOS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3246120"/>
            <a:ext cx="411480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Apr</a:t>
            </a:r>
            <a:r>
              <a:rPr lang="es-419" sz="1300" b="1" i="0" dirty="0">
                <a:solidFill>
                  <a:srgbClr val="FFFFFF"/>
                </a:solidFill>
                <a:latin typeface="Calibri"/>
              </a:rPr>
              <a:t>o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xim</a:t>
            </a:r>
            <a:r>
              <a:rPr lang="es-419" sz="1300" b="1" i="0" dirty="0">
                <a:solidFill>
                  <a:srgbClr val="FFFFFF"/>
                </a:solidFill>
                <a:latin typeface="Calibri"/>
              </a:rPr>
              <a:t>á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damente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normal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566160"/>
            <a:ext cx="4114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Q-Q plot alineado en zona central.</a:t>
            </a:r>
          </a:p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Valido por TCL (n ≈ 8K).</a:t>
            </a:r>
          </a:p>
        </p:txBody>
      </p:sp>
      <p:pic>
        <p:nvPicPr>
          <p:cNvPr id="14" name="Picture 13" descr="fig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34840"/>
            <a:ext cx="667512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6263640"/>
            <a:ext cx="667512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555B6E"/>
                </a:solidFill>
                <a:latin typeface="Calibri"/>
              </a:rPr>
              <a:t>Residuos vs ajustados: leve patron de abanico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206240"/>
            <a:ext cx="4297680" cy="1188720"/>
          </a:xfrm>
          <a:prstGeom prst="roundRect">
            <a:avLst>
              <a:gd name="adj" fmla="val 8000"/>
            </a:avLst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43800" y="429768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HOMOCEDASTICIDAD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57200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Breusch-Pagan: rechazo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892040"/>
            <a:ext cx="4114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Heterocedasticidad detectada.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Mitigacion: errores robustos HC3.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5486400"/>
            <a:ext cx="4297680" cy="77724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557784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E28E2F"/>
                </a:solidFill>
                <a:latin typeface="Calibri"/>
              </a:rPr>
              <a:t>VEREDICTO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852160"/>
            <a:ext cx="41148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 dirty="0" err="1">
                <a:solidFill>
                  <a:srgbClr val="FFFFFF"/>
                </a:solidFill>
                <a:latin typeface="Calibri"/>
              </a:rPr>
              <a:t>Modelo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valido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para </a:t>
            </a:r>
            <a:r>
              <a:rPr lang="es-419" sz="1200" b="1" i="0" dirty="0">
                <a:solidFill>
                  <a:srgbClr val="FFFFFF"/>
                </a:solidFill>
                <a:latin typeface="Calibri"/>
              </a:rPr>
              <a:t>interpretación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Proyecto 01 — Analitica de RRHH  ·  Diagnostico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55B6E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07 · HALLAZGOS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libri"/>
              </a:rPr>
              <a:t>Lo que aprendimos sobre TalentCo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37160" cy="14173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5029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43891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Cargo y experiencia mandan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48840"/>
            <a:ext cx="4389120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 err="1">
                <a:solidFill>
                  <a:srgbClr val="555B6E"/>
                </a:solidFill>
                <a:latin typeface="Calibri"/>
              </a:rPr>
              <a:t>Subir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 de Junior a Senior se 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asocia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 con +US$41K. 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Cada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 a</a:t>
            </a:r>
            <a:r>
              <a:rPr lang="es-419" sz="1100" b="0" i="0" dirty="0">
                <a:solidFill>
                  <a:srgbClr val="555B6E"/>
                </a:solidFill>
                <a:latin typeface="Calibri"/>
              </a:rPr>
              <a:t>ñ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o extra 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suma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 US$625.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137160" cy="1417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37959" y="173736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1828800"/>
            <a:ext cx="5029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737360"/>
            <a:ext cx="43891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21295C"/>
                </a:solidFill>
                <a:latin typeface="Calibri"/>
              </a:rPr>
              <a:t>La </a:t>
            </a:r>
            <a:r>
              <a:rPr lang="es-419" sz="1400" b="1" i="0" dirty="0">
                <a:solidFill>
                  <a:srgbClr val="21295C"/>
                </a:solidFill>
                <a:latin typeface="Calibri"/>
              </a:rPr>
              <a:t>educación</a:t>
            </a:r>
            <a:r>
              <a:rPr sz="14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21295C"/>
                </a:solidFill>
                <a:latin typeface="Calibri"/>
              </a:rPr>
              <a:t>paga</a:t>
            </a:r>
            <a:endParaRPr sz="14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23760" y="2148840"/>
            <a:ext cx="43891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PhD agrega +US$16K y Master +US$7K respecto a Bachelor.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5468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154680"/>
            <a:ext cx="137160" cy="1417320"/>
          </a:xfrm>
          <a:prstGeom prst="rect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8680" y="3337560"/>
            <a:ext cx="502920" cy="502920"/>
          </a:xfrm>
          <a:prstGeom prst="ellipse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5029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337560"/>
            <a:ext cx="43891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El departamento importa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749040"/>
            <a:ext cx="438912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555B6E"/>
                </a:solidFill>
                <a:latin typeface="Calibri"/>
              </a:rPr>
              <a:t>HR, Sales y Marketing pagan US$14-19K 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menos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que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 </a:t>
            </a:r>
            <a:r>
              <a:rPr lang="es-419" sz="1100" b="0" i="0" dirty="0">
                <a:solidFill>
                  <a:srgbClr val="555B6E"/>
                </a:solidFill>
                <a:latin typeface="Calibri"/>
              </a:rPr>
              <a:t>Ingeniería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15468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154680"/>
            <a:ext cx="137160" cy="1417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37959" y="3337560"/>
            <a:ext cx="502920" cy="50292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59" y="3429000"/>
            <a:ext cx="5029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337560"/>
            <a:ext cx="43891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21295C"/>
                </a:solidFill>
                <a:latin typeface="Calibri"/>
              </a:rPr>
              <a:t>La </a:t>
            </a:r>
            <a:r>
              <a:rPr lang="es-419" sz="1400" b="1" i="0" dirty="0">
                <a:solidFill>
                  <a:srgbClr val="21295C"/>
                </a:solidFill>
                <a:latin typeface="Calibri"/>
              </a:rPr>
              <a:t>región</a:t>
            </a:r>
            <a:r>
              <a:rPr sz="1400" b="1" i="0" dirty="0">
                <a:solidFill>
                  <a:srgbClr val="21295C"/>
                </a:solidFill>
                <a:latin typeface="Calibri"/>
              </a:rPr>
              <a:t> es </a:t>
            </a:r>
            <a:r>
              <a:rPr sz="1400" b="1" i="0" dirty="0" err="1">
                <a:solidFill>
                  <a:srgbClr val="21295C"/>
                </a:solidFill>
                <a:latin typeface="Calibri"/>
              </a:rPr>
              <a:t>secundaria</a:t>
            </a:r>
            <a:endParaRPr sz="14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23760" y="3749040"/>
            <a:ext cx="43891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Diferencias de ±US$2-3K. La geografia no explica las quejas.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5488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4754880"/>
            <a:ext cx="137160" cy="1417320"/>
          </a:xfrm>
          <a:prstGeom prst="rect">
            <a:avLst/>
          </a:prstGeom>
          <a:solidFill>
            <a:srgbClr val="B0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68680" y="4937760"/>
            <a:ext cx="502920" cy="502920"/>
          </a:xfrm>
          <a:prstGeom prst="ellipse">
            <a:avLst/>
          </a:prstGeom>
          <a:solidFill>
            <a:srgbClr val="B03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029200"/>
            <a:ext cx="5029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937760"/>
            <a:ext cx="43891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 err="1">
                <a:solidFill>
                  <a:srgbClr val="21295C"/>
                </a:solidFill>
                <a:latin typeface="Calibri"/>
              </a:rPr>
              <a:t>Brecha</a:t>
            </a:r>
            <a:r>
              <a:rPr sz="1400" b="1" i="0" dirty="0">
                <a:solidFill>
                  <a:srgbClr val="21295C"/>
                </a:solidFill>
                <a:latin typeface="Calibri"/>
              </a:rPr>
              <a:t> de </a:t>
            </a:r>
            <a:r>
              <a:rPr lang="es-419" sz="1400" b="1" i="0" dirty="0">
                <a:solidFill>
                  <a:srgbClr val="21295C"/>
                </a:solidFill>
                <a:latin typeface="Calibri"/>
              </a:rPr>
              <a:t>género</a:t>
            </a:r>
            <a:r>
              <a:rPr sz="14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lang="es-419" sz="1400" b="1" i="0" dirty="0">
                <a:solidFill>
                  <a:srgbClr val="21295C"/>
                </a:solidFill>
                <a:latin typeface="Calibri"/>
              </a:rPr>
              <a:t>pequeña</a:t>
            </a:r>
            <a:r>
              <a:rPr sz="14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21295C"/>
                </a:solidFill>
                <a:latin typeface="Calibri"/>
              </a:rPr>
              <a:t>pero</a:t>
            </a:r>
            <a:r>
              <a:rPr sz="1400" b="1" i="0" dirty="0">
                <a:solidFill>
                  <a:srgbClr val="21295C"/>
                </a:solidFill>
                <a:latin typeface="Calibri"/>
              </a:rPr>
              <a:t> real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349240"/>
            <a:ext cx="43891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≈ +US$1.8K para empleados masculinos (p&lt;0,05). Modesto pero significativo.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75488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4754880"/>
            <a:ext cx="137160" cy="1417320"/>
          </a:xfrm>
          <a:prstGeom prst="rect">
            <a:avLst/>
          </a:prstGeom>
          <a:solidFill>
            <a:srgbClr val="555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537959" y="4937760"/>
            <a:ext cx="502920" cy="502920"/>
          </a:xfrm>
          <a:prstGeom prst="ellipse">
            <a:avLst/>
          </a:prstGeom>
          <a:solidFill>
            <a:srgbClr val="555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59" y="5029200"/>
            <a:ext cx="5029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4937760"/>
            <a:ext cx="43891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El modelo deja 44% sin explicar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5349240"/>
            <a:ext cx="438912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1100" b="0" i="0" dirty="0">
                <a:solidFill>
                  <a:srgbClr val="555B6E"/>
                </a:solidFill>
                <a:latin typeface="Calibri"/>
              </a:rPr>
              <a:t>Negociación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antiguedad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 y 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otros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factores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individuales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 no 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capturados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Proyecto 01 — Analitica de RRHH  ·  Hallazgos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55B6E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07 ·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s-419" sz="2800" b="1" i="0" dirty="0">
                <a:solidFill>
                  <a:srgbClr val="21295C"/>
                </a:solidFill>
                <a:latin typeface="Calibri"/>
              </a:rPr>
              <a:t>¿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Qu</a:t>
            </a:r>
            <a:r>
              <a:rPr lang="es-419" sz="2800" b="1" i="0" dirty="0">
                <a:solidFill>
                  <a:srgbClr val="21295C"/>
                </a:solidFill>
                <a:latin typeface="Calibri"/>
              </a:rPr>
              <a:t>é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lang="es-419" sz="2800" b="1" i="0" dirty="0">
                <a:solidFill>
                  <a:srgbClr val="21295C"/>
                </a:solidFill>
                <a:latin typeface="Calibri"/>
              </a:rPr>
              <a:t>debería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21295C"/>
                </a:solidFill>
                <a:latin typeface="Calibri"/>
              </a:rPr>
              <a:t>hacer</a:t>
            </a:r>
            <a:r>
              <a:rPr sz="2800" b="1" i="0" dirty="0">
                <a:solidFill>
                  <a:srgbClr val="21295C"/>
                </a:solidFill>
                <a:latin typeface="Calibri"/>
              </a:rPr>
              <a:t> TalentCo</a:t>
            </a:r>
            <a:r>
              <a:rPr lang="es-419" sz="2800" b="1" i="0" dirty="0">
                <a:solidFill>
                  <a:srgbClr val="21295C"/>
                </a:solidFill>
                <a:latin typeface="Calibri"/>
              </a:rPr>
              <a:t>?</a:t>
            </a:r>
            <a:endParaRPr sz="28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64592" cy="868680"/>
          </a:xfrm>
          <a:prstGeom prst="rect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75564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Formalizar bandas salariales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Publicar rangos min/max por cargo y experiencia.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93776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 dirty="0">
                <a:solidFill>
                  <a:srgbClr val="1C7293"/>
                </a:solidFill>
                <a:latin typeface="Calibri"/>
              </a:rPr>
              <a:t>Reduce </a:t>
            </a:r>
            <a:r>
              <a:rPr lang="es-419" sz="1100" b="0" i="1" dirty="0">
                <a:solidFill>
                  <a:srgbClr val="1C7293"/>
                </a:solidFill>
                <a:latin typeface="Calibri"/>
              </a:rPr>
              <a:t>sensación</a:t>
            </a:r>
            <a:r>
              <a:rPr sz="1100" b="0" i="1" dirty="0">
                <a:solidFill>
                  <a:srgbClr val="1C7293"/>
                </a:solidFill>
                <a:latin typeface="Calibri"/>
              </a:rPr>
              <a:t> de </a:t>
            </a:r>
            <a:r>
              <a:rPr sz="1100" b="0" i="1" dirty="0" err="1">
                <a:solidFill>
                  <a:srgbClr val="1C7293"/>
                </a:solidFill>
                <a:latin typeface="Calibri"/>
              </a:rPr>
              <a:t>inequidad</a:t>
            </a:r>
            <a:r>
              <a:rPr sz="11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1C7293"/>
                </a:solidFill>
                <a:latin typeface="Calibri"/>
              </a:rPr>
              <a:t>reportada</a:t>
            </a:r>
            <a:r>
              <a:rPr sz="11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1C7293"/>
                </a:solidFill>
                <a:latin typeface="Calibri"/>
              </a:rPr>
              <a:t>por</a:t>
            </a:r>
            <a:r>
              <a:rPr sz="11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1C7293"/>
                </a:solidFill>
                <a:latin typeface="Calibri"/>
              </a:rPr>
              <a:t>empleados</a:t>
            </a:r>
            <a:r>
              <a:rPr sz="1100" b="0" i="1" dirty="0">
                <a:solidFill>
                  <a:srgbClr val="1C7293"/>
                </a:solidFill>
                <a:latin typeface="Calibr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64592" cy="868680"/>
          </a:xfrm>
          <a:prstGeom prst="rect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271576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807208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06040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Auditar brechas entre departamentos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971800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Validar si HR/Sales/Marketing reflejan mercado o legado.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74320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1C7293"/>
                </a:solidFill>
                <a:latin typeface="Calibri"/>
              </a:rPr>
              <a:t>El diferencial de US$14-19K amerita un benchmark externo.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164592" cy="868680"/>
          </a:xfrm>
          <a:prstGeom prst="rect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3675887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767328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566160"/>
            <a:ext cx="48463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 err="1">
                <a:solidFill>
                  <a:srgbClr val="21295C"/>
                </a:solidFill>
                <a:latin typeface="Calibri"/>
              </a:rPr>
              <a:t>Monitorear</a:t>
            </a:r>
            <a:r>
              <a:rPr sz="1400" b="1" i="0" dirty="0">
                <a:solidFill>
                  <a:srgbClr val="21295C"/>
                </a:solidFill>
                <a:latin typeface="Calibri"/>
              </a:rPr>
              <a:t> la </a:t>
            </a:r>
            <a:r>
              <a:rPr sz="1400" b="1" i="0" dirty="0" err="1">
                <a:solidFill>
                  <a:srgbClr val="21295C"/>
                </a:solidFill>
                <a:latin typeface="Calibri"/>
              </a:rPr>
              <a:t>brecha</a:t>
            </a:r>
            <a:r>
              <a:rPr sz="1400" b="1" i="0" dirty="0">
                <a:solidFill>
                  <a:srgbClr val="21295C"/>
                </a:solidFill>
                <a:latin typeface="Calibri"/>
              </a:rPr>
              <a:t> de </a:t>
            </a:r>
            <a:r>
              <a:rPr lang="es-419" sz="1400" b="1" i="0" dirty="0">
                <a:solidFill>
                  <a:srgbClr val="21295C"/>
                </a:solidFill>
                <a:latin typeface="Calibri"/>
              </a:rPr>
              <a:t>género</a:t>
            </a:r>
            <a:endParaRPr sz="14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54480" y="3931920"/>
            <a:ext cx="484632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 err="1">
                <a:solidFill>
                  <a:srgbClr val="555B6E"/>
                </a:solidFill>
                <a:latin typeface="Calibri"/>
              </a:rPr>
              <a:t>Ampliar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 el </a:t>
            </a:r>
            <a:r>
              <a:rPr lang="es-419" sz="1100" b="0" i="0" dirty="0">
                <a:solidFill>
                  <a:srgbClr val="555B6E"/>
                </a:solidFill>
                <a:latin typeface="Calibri"/>
              </a:rPr>
              <a:t>análisis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 a 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bonos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, promociones y 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ofertas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55B6E"/>
                </a:solidFill>
                <a:latin typeface="Calibri"/>
              </a:rPr>
              <a:t>iniciales</a:t>
            </a:r>
            <a:r>
              <a:rPr sz="1100" b="0" i="0" dirty="0">
                <a:solidFill>
                  <a:srgbClr val="555B6E"/>
                </a:solidFill>
                <a:latin typeface="Calibri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703320"/>
            <a:ext cx="493776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 dirty="0">
                <a:solidFill>
                  <a:srgbClr val="1C7293"/>
                </a:solidFill>
                <a:latin typeface="Calibri"/>
              </a:rPr>
              <a:t>La </a:t>
            </a:r>
            <a:r>
              <a:rPr sz="1100" b="0" i="1" dirty="0" err="1">
                <a:solidFill>
                  <a:srgbClr val="1C7293"/>
                </a:solidFill>
                <a:latin typeface="Calibri"/>
              </a:rPr>
              <a:t>brecha</a:t>
            </a:r>
            <a:r>
              <a:rPr sz="1100" b="0" i="1" dirty="0">
                <a:solidFill>
                  <a:srgbClr val="1C7293"/>
                </a:solidFill>
                <a:latin typeface="Calibri"/>
              </a:rPr>
              <a:t> es </a:t>
            </a:r>
            <a:r>
              <a:rPr lang="es-419" sz="1100" b="0" i="1" dirty="0">
                <a:solidFill>
                  <a:srgbClr val="1C7293"/>
                </a:solidFill>
                <a:latin typeface="Calibri"/>
              </a:rPr>
              <a:t>pequeña</a:t>
            </a:r>
            <a:r>
              <a:rPr sz="11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1C7293"/>
                </a:solidFill>
                <a:latin typeface="Calibri"/>
              </a:rPr>
              <a:t>pero</a:t>
            </a:r>
            <a:r>
              <a:rPr sz="11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lang="es-419" sz="1100" b="0" i="1" dirty="0">
                <a:solidFill>
                  <a:srgbClr val="1C7293"/>
                </a:solidFill>
                <a:latin typeface="Calibri"/>
              </a:rPr>
              <a:t>estadísticamente</a:t>
            </a:r>
            <a:r>
              <a:rPr sz="1100" b="0" i="1" dirty="0">
                <a:solidFill>
                  <a:srgbClr val="1C7293"/>
                </a:solidFill>
                <a:latin typeface="Calibri"/>
              </a:rPr>
              <a:t> real.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3484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434840"/>
            <a:ext cx="164592" cy="868680"/>
          </a:xfrm>
          <a:prstGeom prst="rect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4400" y="463600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727448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526280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Transparentar el premium educacional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892040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Comunicar abiertamente +US$7K Master, +US$16K PhD.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663440"/>
            <a:ext cx="493776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 dirty="0" err="1">
                <a:solidFill>
                  <a:srgbClr val="1C7293"/>
                </a:solidFill>
                <a:latin typeface="Calibri"/>
              </a:rPr>
              <a:t>Refuerza</a:t>
            </a:r>
            <a:r>
              <a:rPr sz="1100" b="0" i="1" dirty="0">
                <a:solidFill>
                  <a:srgbClr val="1C7293"/>
                </a:solidFill>
                <a:latin typeface="Calibri"/>
              </a:rPr>
              <a:t> la </a:t>
            </a:r>
            <a:r>
              <a:rPr lang="es-419" sz="1100" b="0" i="1" dirty="0">
                <a:solidFill>
                  <a:srgbClr val="1C7293"/>
                </a:solidFill>
                <a:latin typeface="Calibri"/>
              </a:rPr>
              <a:t>percepción</a:t>
            </a:r>
            <a:r>
              <a:rPr sz="1100" b="0" i="1" dirty="0">
                <a:solidFill>
                  <a:srgbClr val="1C7293"/>
                </a:solidFill>
                <a:latin typeface="Calibri"/>
              </a:rPr>
              <a:t> de </a:t>
            </a:r>
            <a:r>
              <a:rPr sz="1100" b="0" i="1" dirty="0" err="1">
                <a:solidFill>
                  <a:srgbClr val="1C7293"/>
                </a:solidFill>
                <a:latin typeface="Calibri"/>
              </a:rPr>
              <a:t>meritocracia</a:t>
            </a:r>
            <a:r>
              <a:rPr sz="1100" b="0" i="1" dirty="0">
                <a:solidFill>
                  <a:srgbClr val="1C7293"/>
                </a:solidFill>
                <a:latin typeface="Calibri"/>
              </a:rPr>
              <a:t>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Rectangle 32"/>
          <p:cNvSpPr/>
          <p:nvPr/>
        </p:nvSpPr>
        <p:spPr>
          <a:xfrm>
            <a:off x="548640" y="5394960"/>
            <a:ext cx="164592" cy="868680"/>
          </a:xfrm>
          <a:prstGeom prst="rect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14400" y="559612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687568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486400"/>
            <a:ext cx="48463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 err="1">
                <a:solidFill>
                  <a:srgbClr val="21295C"/>
                </a:solidFill>
                <a:latin typeface="Calibri"/>
              </a:rPr>
              <a:t>Mejorar</a:t>
            </a:r>
            <a:r>
              <a:rPr sz="14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lang="es-419" sz="1400" b="1" i="0" dirty="0">
                <a:solidFill>
                  <a:srgbClr val="21295C"/>
                </a:solidFill>
                <a:latin typeface="Calibri"/>
              </a:rPr>
              <a:t>comunicación</a:t>
            </a:r>
            <a:r>
              <a:rPr sz="1400" b="1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21295C"/>
                </a:solidFill>
                <a:latin typeface="Calibri"/>
              </a:rPr>
              <a:t>interna</a:t>
            </a:r>
            <a:endParaRPr sz="14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554480" y="5852160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Documentar los criterios que TalentCo si controla.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62356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1C7293"/>
                </a:solidFill>
                <a:latin typeface="Calibri"/>
              </a:rPr>
              <a:t>Recupera confianza sin revelar salarios individuales.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55B6E"/>
                </a:solidFill>
                <a:latin typeface="Calibri"/>
              </a:rPr>
              <a:t>Proyecto 01 — Analitica de RRHH  ·  Recomendaciones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555B6E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28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E28E2F"/>
                </a:solidFill>
                <a:latin typeface="Calibri"/>
              </a:rPr>
              <a:t>EN UNA SOLA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97280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En TalentCo, el </a:t>
            </a:r>
            <a:r>
              <a:rPr sz="3600" b="1" i="0" dirty="0" err="1">
                <a:solidFill>
                  <a:srgbClr val="FFFFFF"/>
                </a:solidFill>
                <a:latin typeface="Calibri"/>
              </a:rPr>
              <a:t>salario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lo </a:t>
            </a:r>
            <a:r>
              <a:rPr sz="3600" b="1" i="0" dirty="0" err="1">
                <a:solidFill>
                  <a:srgbClr val="FFFFFF"/>
                </a:solidFill>
                <a:latin typeface="Calibri"/>
              </a:rPr>
              <a:t>definen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600" b="1" i="0" dirty="0" err="1">
                <a:solidFill>
                  <a:srgbClr val="FFFFFF"/>
                </a:solidFill>
                <a:latin typeface="Calibri"/>
              </a:rPr>
              <a:t>sobre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 todo</a:t>
            </a:r>
          </a:p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el cargo y la </a:t>
            </a:r>
            <a:r>
              <a:rPr sz="3600" b="1" i="0" dirty="0" err="1">
                <a:solidFill>
                  <a:srgbClr val="FFFFFF"/>
                </a:solidFill>
                <a:latin typeface="Calibri"/>
              </a:rPr>
              <a:t>experiencia</a:t>
            </a:r>
            <a:r>
              <a:rPr sz="3600" b="1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97280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1" dirty="0">
                <a:solidFill>
                  <a:srgbClr val="CADCFC"/>
                </a:solidFill>
                <a:latin typeface="Calibri"/>
              </a:rPr>
              <a:t>El </a:t>
            </a:r>
            <a:r>
              <a:rPr sz="1600" b="0" i="1" dirty="0" err="1">
                <a:solidFill>
                  <a:srgbClr val="CADCFC"/>
                </a:solidFill>
                <a:latin typeface="Calibri"/>
              </a:rPr>
              <a:t>resto</a:t>
            </a:r>
            <a:r>
              <a:rPr sz="1600" b="0" i="1" dirty="0">
                <a:solidFill>
                  <a:srgbClr val="CADCFC"/>
                </a:solidFill>
                <a:latin typeface="Calibri"/>
              </a:rPr>
              <a:t> — </a:t>
            </a:r>
            <a:r>
              <a:rPr lang="es-419" sz="1600" b="0" i="1" dirty="0">
                <a:solidFill>
                  <a:srgbClr val="CADCFC"/>
                </a:solidFill>
                <a:latin typeface="Calibri"/>
              </a:rPr>
              <a:t>educación</a:t>
            </a:r>
            <a:r>
              <a:rPr sz="1600" b="0" i="1" dirty="0">
                <a:solidFill>
                  <a:srgbClr val="CADCFC"/>
                </a:solidFill>
                <a:latin typeface="Calibri"/>
              </a:rPr>
              <a:t>, </a:t>
            </a:r>
            <a:r>
              <a:rPr sz="1600" b="0" i="1" dirty="0" err="1">
                <a:solidFill>
                  <a:srgbClr val="CADCFC"/>
                </a:solidFill>
                <a:latin typeface="Calibri"/>
              </a:rPr>
              <a:t>departamento</a:t>
            </a:r>
            <a:r>
              <a:rPr sz="1600" b="0" i="1" dirty="0">
                <a:solidFill>
                  <a:srgbClr val="CADCFC"/>
                </a:solidFill>
                <a:latin typeface="Calibri"/>
              </a:rPr>
              <a:t>, region, </a:t>
            </a:r>
            <a:r>
              <a:rPr lang="es-419" sz="1600" b="0" i="1">
                <a:solidFill>
                  <a:srgbClr val="CADCFC"/>
                </a:solidFill>
                <a:latin typeface="Calibri"/>
              </a:rPr>
              <a:t>género</a:t>
            </a:r>
            <a:r>
              <a:rPr sz="1600" b="0" i="1">
                <a:solidFill>
                  <a:srgbClr val="CADCFC"/>
                </a:solidFill>
                <a:latin typeface="Calibri"/>
              </a:rPr>
              <a:t> </a:t>
            </a:r>
            <a:r>
              <a:rPr sz="1600" b="0" i="1" dirty="0">
                <a:solidFill>
                  <a:srgbClr val="CADCFC"/>
                </a:solidFill>
                <a:latin typeface="Calibri"/>
              </a:rPr>
              <a:t>— </a:t>
            </a:r>
            <a:r>
              <a:rPr sz="1600" b="0" i="1" dirty="0" err="1">
                <a:solidFill>
                  <a:srgbClr val="CADCFC"/>
                </a:solidFill>
                <a:latin typeface="Calibri"/>
              </a:rPr>
              <a:t>ajusta</a:t>
            </a:r>
            <a:r>
              <a:rPr sz="1600" b="0" i="1" dirty="0">
                <a:solidFill>
                  <a:srgbClr val="CADCFC"/>
                </a:solidFill>
                <a:latin typeface="Calibri"/>
              </a:rPr>
              <a:t> el </a:t>
            </a:r>
            <a:r>
              <a:rPr sz="1600" b="0" i="1" dirty="0" err="1">
                <a:solidFill>
                  <a:srgbClr val="CADCFC"/>
                </a:solidFill>
                <a:latin typeface="Calibri"/>
              </a:rPr>
              <a:t>monto</a:t>
            </a:r>
            <a:r>
              <a:rPr sz="1600" b="0" i="1" dirty="0">
                <a:solidFill>
                  <a:srgbClr val="CADCFC"/>
                </a:solidFill>
                <a:latin typeface="Calibri"/>
              </a:rPr>
              <a:t> en </a:t>
            </a:r>
            <a:r>
              <a:rPr sz="1600" b="0" i="1" dirty="0" err="1">
                <a:solidFill>
                  <a:srgbClr val="CADCFC"/>
                </a:solidFill>
                <a:latin typeface="Calibri"/>
              </a:rPr>
              <a:t>montos</a:t>
            </a:r>
            <a:r>
              <a:rPr sz="1600" b="0" i="1" dirty="0">
                <a:solidFill>
                  <a:srgbClr val="CADCFC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CADCFC"/>
                </a:solidFill>
                <a:latin typeface="Calibri"/>
              </a:rPr>
              <a:t>menores</a:t>
            </a:r>
            <a:r>
              <a:rPr sz="1600" b="0" i="1" dirty="0">
                <a:solidFill>
                  <a:srgbClr val="CADCFC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CADCFC"/>
                </a:solidFill>
                <a:latin typeface="Calibri"/>
              </a:rPr>
              <a:t>pero</a:t>
            </a:r>
            <a:r>
              <a:rPr sz="1600" b="0" i="1" dirty="0">
                <a:solidFill>
                  <a:srgbClr val="CADCFC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CADCFC"/>
                </a:solidFill>
                <a:latin typeface="Calibri"/>
              </a:rPr>
              <a:t>medibles</a:t>
            </a:r>
            <a:r>
              <a:rPr sz="1600" b="0" i="1" dirty="0">
                <a:solidFill>
                  <a:srgbClr val="CADCFC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1852</Words>
  <Application>Microsoft Office PowerPoint</Application>
  <PresentationFormat>Panorámica</PresentationFormat>
  <Paragraphs>387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Martina Morales Bustos (Alumno)</cp:lastModifiedBy>
  <cp:revision>4</cp:revision>
  <dcterms:created xsi:type="dcterms:W3CDTF">2013-01-27T09:14:16Z</dcterms:created>
  <dcterms:modified xsi:type="dcterms:W3CDTF">2026-06-08T14:00:10Z</dcterms:modified>
  <cp:category/>
</cp:coreProperties>
</file>